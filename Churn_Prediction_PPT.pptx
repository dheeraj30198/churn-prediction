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9AA7"/>
          </a:solidFill>
          <a:ln w="12700">
            <a:solidFill>
              <a:srgbClr val="0E9AA7"/>
            </a:solidFill>
            <a:prstDash val="solid"/>
          </a:ln>
        </p:spPr>
      </p:sp>
      <p:sp>
        <p:nvSpPr>
          <p:cNvPr id="3" name="Text 1"/>
          <p:cNvSpPr/>
          <p:nvPr/>
        </p:nvSpPr>
        <p:spPr>
          <a:xfrm>
            <a:off x="365760" y="640080"/>
            <a:ext cx="841248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Customer Churn Prediction</a:t>
            </a:r>
            <a:endParaRPr lang="en-US" sz="4000" dirty="0"/>
          </a:p>
        </p:txBody>
      </p:sp>
      <p:sp>
        <p:nvSpPr>
          <p:cNvPr id="4" name="Text 2"/>
          <p:cNvSpPr/>
          <p:nvPr/>
        </p:nvSpPr>
        <p:spPr>
          <a:xfrm>
            <a:off x="365760" y="1600200"/>
            <a:ext cx="8412480" cy="822960"/>
          </a:xfrm>
          <a:prstGeom prst="rect">
            <a:avLst/>
          </a:prstGeom>
          <a:noFill/>
          <a:ln/>
        </p:spPr>
        <p:txBody>
          <a:bodyPr wrap="square" lIns="0" tIns="0" rIns="0" bIns="0" rtlCol="0" anchor="ctr"/>
          <a:lstStyle/>
          <a:p>
            <a:pPr algn="ctr" indent="0" marL="0">
              <a:buNone/>
            </a:pPr>
            <a:r>
              <a:rPr lang="en-US" sz="3400" b="1" dirty="0">
                <a:solidFill>
                  <a:srgbClr val="1DC9D8"/>
                </a:solidFill>
                <a:latin typeface="Cambria" pitchFamily="34" charset="0"/>
                <a:ea typeface="Cambria" pitchFamily="34" charset="-122"/>
                <a:cs typeface="Cambria" pitchFamily="34" charset="-120"/>
              </a:rPr>
              <a:t>Using Machine Learning</a:t>
            </a:r>
            <a:endParaRPr lang="en-US" sz="3400" dirty="0"/>
          </a:p>
        </p:txBody>
      </p:sp>
      <p:sp>
        <p:nvSpPr>
          <p:cNvPr id="5" name="Text 3"/>
          <p:cNvSpPr/>
          <p:nvPr/>
        </p:nvSpPr>
        <p:spPr>
          <a:xfrm>
            <a:off x="1097280" y="2514600"/>
            <a:ext cx="6949440" cy="502920"/>
          </a:xfrm>
          <a:prstGeom prst="rect">
            <a:avLst/>
          </a:prstGeom>
          <a:noFill/>
          <a:ln/>
        </p:spPr>
        <p:txBody>
          <a:bodyPr wrap="square" lIns="0" tIns="0" rIns="0" bIns="0" rtlCol="0" anchor="ctr"/>
          <a:lstStyle/>
          <a:p>
            <a:pPr algn="ctr" indent="0" marL="0">
              <a:buNone/>
            </a:pPr>
            <a:r>
              <a:rPr lang="en-US" sz="1600" i="1" dirty="0">
                <a:solidFill>
                  <a:srgbClr val="D4E1EE"/>
                </a:solidFill>
                <a:latin typeface="Calibri" pitchFamily="34" charset="0"/>
                <a:ea typeface="Calibri" pitchFamily="34" charset="-122"/>
                <a:cs typeface="Calibri" pitchFamily="34" charset="-120"/>
              </a:rPr>
              <a:t>"Transforming Customer Data into Business Insights"</a:t>
            </a:r>
            <a:endParaRPr lang="en-US" sz="1600" dirty="0"/>
          </a:p>
        </p:txBody>
      </p:sp>
      <p:sp>
        <p:nvSpPr>
          <p:cNvPr id="6" name="Shape 4"/>
          <p:cNvSpPr/>
          <p:nvPr/>
        </p:nvSpPr>
        <p:spPr>
          <a:xfrm>
            <a:off x="320040" y="2999232"/>
            <a:ext cx="2606040" cy="713232"/>
          </a:xfrm>
          <a:prstGeom prst="roundRect">
            <a:avLst>
              <a:gd name="adj" fmla="val 1282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320040" y="3017520"/>
            <a:ext cx="2606040" cy="274320"/>
          </a:xfrm>
          <a:prstGeom prst="rect">
            <a:avLst/>
          </a:prstGeom>
          <a:noFill/>
          <a:ln/>
        </p:spPr>
        <p:txBody>
          <a:bodyPr wrap="square" lIns="0" tIns="0" rIns="0" bIns="0" rtlCol="0" anchor="ctr"/>
          <a:lstStyle/>
          <a:p>
            <a:pPr algn="ctr" indent="0" marL="0">
              <a:buNone/>
            </a:pPr>
            <a:r>
              <a:rPr lang="en-US" sz="950" b="1" dirty="0">
                <a:solidFill>
                  <a:srgbClr val="1DC9D8"/>
                </a:solidFill>
                <a:latin typeface="Calibri" pitchFamily="34" charset="0"/>
                <a:ea typeface="Calibri" pitchFamily="34" charset="-122"/>
                <a:cs typeface="Calibri" pitchFamily="34" charset="-120"/>
              </a:rPr>
              <a:t>Department</a:t>
            </a:r>
            <a:endParaRPr lang="en-US" sz="950" dirty="0"/>
          </a:p>
        </p:txBody>
      </p:sp>
      <p:sp>
        <p:nvSpPr>
          <p:cNvPr id="8" name="Text 6"/>
          <p:cNvSpPr/>
          <p:nvPr/>
        </p:nvSpPr>
        <p:spPr>
          <a:xfrm>
            <a:off x="320040" y="3291840"/>
            <a:ext cx="26060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Computer Science &amp; Engineering</a:t>
            </a:r>
            <a:endParaRPr lang="en-US" sz="1100" dirty="0"/>
          </a:p>
        </p:txBody>
      </p:sp>
      <p:sp>
        <p:nvSpPr>
          <p:cNvPr id="9" name="Shape 7"/>
          <p:cNvSpPr/>
          <p:nvPr/>
        </p:nvSpPr>
        <p:spPr>
          <a:xfrm>
            <a:off x="3154680" y="2999232"/>
            <a:ext cx="2606040" cy="713232"/>
          </a:xfrm>
          <a:prstGeom prst="roundRect">
            <a:avLst>
              <a:gd name="adj" fmla="val 1282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3154680" y="3017520"/>
            <a:ext cx="2606040" cy="274320"/>
          </a:xfrm>
          <a:prstGeom prst="rect">
            <a:avLst/>
          </a:prstGeom>
          <a:noFill/>
          <a:ln/>
        </p:spPr>
        <p:txBody>
          <a:bodyPr wrap="square" lIns="0" tIns="0" rIns="0" bIns="0" rtlCol="0" anchor="ctr"/>
          <a:lstStyle/>
          <a:p>
            <a:pPr algn="ctr" indent="0" marL="0">
              <a:buNone/>
            </a:pPr>
            <a:r>
              <a:rPr lang="en-US" sz="950" b="1" dirty="0">
                <a:solidFill>
                  <a:srgbClr val="1DC9D8"/>
                </a:solidFill>
                <a:latin typeface="Calibri" pitchFamily="34" charset="0"/>
                <a:ea typeface="Calibri" pitchFamily="34" charset="-122"/>
                <a:cs typeface="Calibri" pitchFamily="34" charset="-120"/>
              </a:rPr>
              <a:t>Institution</a:t>
            </a:r>
            <a:endParaRPr lang="en-US" sz="950" dirty="0"/>
          </a:p>
        </p:txBody>
      </p:sp>
      <p:sp>
        <p:nvSpPr>
          <p:cNvPr id="11" name="Text 9"/>
          <p:cNvSpPr/>
          <p:nvPr/>
        </p:nvSpPr>
        <p:spPr>
          <a:xfrm>
            <a:off x="3154680" y="3291840"/>
            <a:ext cx="26060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KLH University</a:t>
            </a:r>
            <a:endParaRPr lang="en-US" sz="1100" dirty="0"/>
          </a:p>
        </p:txBody>
      </p:sp>
      <p:sp>
        <p:nvSpPr>
          <p:cNvPr id="12" name="Shape 10"/>
          <p:cNvSpPr/>
          <p:nvPr/>
        </p:nvSpPr>
        <p:spPr>
          <a:xfrm>
            <a:off x="5989320" y="2999232"/>
            <a:ext cx="2606040" cy="713232"/>
          </a:xfrm>
          <a:prstGeom prst="roundRect">
            <a:avLst>
              <a:gd name="adj" fmla="val 1282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5989320" y="3017520"/>
            <a:ext cx="2606040" cy="274320"/>
          </a:xfrm>
          <a:prstGeom prst="rect">
            <a:avLst/>
          </a:prstGeom>
          <a:noFill/>
          <a:ln/>
        </p:spPr>
        <p:txBody>
          <a:bodyPr wrap="square" lIns="0" tIns="0" rIns="0" bIns="0" rtlCol="0" anchor="ctr"/>
          <a:lstStyle/>
          <a:p>
            <a:pPr algn="ctr" indent="0" marL="0">
              <a:buNone/>
            </a:pPr>
            <a:r>
              <a:rPr lang="en-US" sz="950" b="1" dirty="0">
                <a:solidFill>
                  <a:srgbClr val="1DC9D8"/>
                </a:solidFill>
                <a:latin typeface="Calibri" pitchFamily="34" charset="0"/>
                <a:ea typeface="Calibri" pitchFamily="34" charset="-122"/>
                <a:cs typeface="Calibri" pitchFamily="34" charset="-120"/>
              </a:rPr>
              <a:t>Domain</a:t>
            </a:r>
            <a:endParaRPr lang="en-US" sz="950" dirty="0"/>
          </a:p>
        </p:txBody>
      </p:sp>
      <p:sp>
        <p:nvSpPr>
          <p:cNvPr id="14" name="Text 12"/>
          <p:cNvSpPr/>
          <p:nvPr/>
        </p:nvSpPr>
        <p:spPr>
          <a:xfrm>
            <a:off x="5989320" y="3291840"/>
            <a:ext cx="26060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AI &amp; Machine Learning</a:t>
            </a:r>
            <a:endParaRPr lang="en-US" sz="1100" dirty="0"/>
          </a:p>
        </p:txBody>
      </p:sp>
      <p:sp>
        <p:nvSpPr>
          <p:cNvPr id="15" name="Shape 13"/>
          <p:cNvSpPr/>
          <p:nvPr/>
        </p:nvSpPr>
        <p:spPr>
          <a:xfrm>
            <a:off x="320040" y="3840480"/>
            <a:ext cx="8503920" cy="1097280"/>
          </a:xfrm>
          <a:prstGeom prst="roundRect">
            <a:avLst>
              <a:gd name="adj" fmla="val 10000"/>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320040" y="3886200"/>
            <a:ext cx="8503920" cy="274320"/>
          </a:xfrm>
          <a:prstGeom prst="rect">
            <a:avLst/>
          </a:prstGeom>
          <a:noFill/>
          <a:ln/>
        </p:spPr>
        <p:txBody>
          <a:bodyPr wrap="square" lIns="0" tIns="0" rIns="0" bIns="0" rtlCol="0" anchor="ctr"/>
          <a:lstStyle/>
          <a:p>
            <a:pPr algn="ctr" indent="0" marL="0">
              <a:buNone/>
            </a:pPr>
            <a:r>
              <a:rPr lang="en-US" sz="1050" b="1" dirty="0">
                <a:solidFill>
                  <a:srgbClr val="1DC9D8"/>
                </a:solidFill>
                <a:latin typeface="Cambria" pitchFamily="34" charset="0"/>
                <a:ea typeface="Cambria" pitchFamily="34" charset="-122"/>
                <a:cs typeface="Cambria" pitchFamily="34" charset="-120"/>
              </a:rPr>
              <a:t>Presented By</a:t>
            </a:r>
            <a:endParaRPr lang="en-US" sz="1050" dirty="0"/>
          </a:p>
        </p:txBody>
      </p:sp>
      <p:sp>
        <p:nvSpPr>
          <p:cNvPr id="17" name="Text 15"/>
          <p:cNvSpPr/>
          <p:nvPr/>
        </p:nvSpPr>
        <p:spPr>
          <a:xfrm>
            <a:off x="731520" y="4187952"/>
            <a:ext cx="4023360" cy="32918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2310030300   Lukhi Jeel</a:t>
            </a:r>
            <a:endParaRPr lang="en-US" sz="1150" dirty="0"/>
          </a:p>
        </p:txBody>
      </p:sp>
      <p:sp>
        <p:nvSpPr>
          <p:cNvPr id="18" name="Text 16"/>
          <p:cNvSpPr/>
          <p:nvPr/>
        </p:nvSpPr>
        <p:spPr>
          <a:xfrm>
            <a:off x="5029200" y="4187952"/>
            <a:ext cx="4023360" cy="32918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2310030013   Patel Manthan</a:t>
            </a:r>
            <a:endParaRPr lang="en-US" sz="1150" dirty="0"/>
          </a:p>
        </p:txBody>
      </p:sp>
      <p:sp>
        <p:nvSpPr>
          <p:cNvPr id="19" name="Text 17"/>
          <p:cNvSpPr/>
          <p:nvPr/>
        </p:nvSpPr>
        <p:spPr>
          <a:xfrm>
            <a:off x="731520" y="4535424"/>
            <a:ext cx="4023360" cy="32918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2310030198   Dheeraj Kumawat</a:t>
            </a:r>
            <a:endParaRPr lang="en-US" sz="1150" dirty="0"/>
          </a:p>
        </p:txBody>
      </p:sp>
      <p:sp>
        <p:nvSpPr>
          <p:cNvPr id="20" name="Text 18"/>
          <p:cNvSpPr/>
          <p:nvPr/>
        </p:nvSpPr>
        <p:spPr>
          <a:xfrm>
            <a:off x="5029200" y="4535424"/>
            <a:ext cx="4023360" cy="32918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2310030034   Harshvardhan Gaikwad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274320" y="45720"/>
            <a:ext cx="859536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What is Customer Churn?</a:t>
            </a:r>
            <a:endParaRPr lang="en-US" sz="2600" dirty="0"/>
          </a:p>
        </p:txBody>
      </p:sp>
      <p:sp>
        <p:nvSpPr>
          <p:cNvPr id="4" name="Shape 2"/>
          <p:cNvSpPr/>
          <p:nvPr/>
        </p:nvSpPr>
        <p:spPr>
          <a:xfrm>
            <a:off x="274320" y="960120"/>
            <a:ext cx="5303520" cy="1005840"/>
          </a:xfrm>
          <a:prstGeom prst="roundRect">
            <a:avLst>
              <a:gd name="adj" fmla="val 909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365760" y="1005840"/>
            <a:ext cx="5166360" cy="914400"/>
          </a:xfrm>
          <a:prstGeom prst="rect">
            <a:avLst/>
          </a:prstGeom>
          <a:noFill/>
          <a:ln/>
        </p:spPr>
        <p:txBody>
          <a:bodyPr wrap="square" lIns="76200" tIns="76200" rIns="76200" bIns="76200" rtlCol="0" anchor="ctr"/>
          <a:lstStyle/>
          <a:p>
            <a:pPr indent="0" marL="0">
              <a:buNone/>
            </a:pPr>
            <a:r>
              <a:rPr lang="en-US" sz="1300" dirty="0">
                <a:solidFill>
                  <a:srgbClr val="1B2E45"/>
                </a:solidFill>
                <a:latin typeface="Calibri" pitchFamily="34" charset="0"/>
                <a:ea typeface="Calibri" pitchFamily="34" charset="-122"/>
                <a:cs typeface="Calibri" pitchFamily="34" charset="-120"/>
              </a:rPr>
              <a:t>Customer churn refers to customers who stop using a company's products or services.</a:t>
            </a:r>
            <a:endParaRPr lang="en-US" sz="1300" dirty="0"/>
          </a:p>
        </p:txBody>
      </p:sp>
      <p:sp>
        <p:nvSpPr>
          <p:cNvPr id="6" name="Shape 4"/>
          <p:cNvSpPr/>
          <p:nvPr/>
        </p:nvSpPr>
        <p:spPr>
          <a:xfrm>
            <a:off x="274320" y="2130552"/>
            <a:ext cx="5303520" cy="1005840"/>
          </a:xfrm>
          <a:prstGeom prst="roundRect">
            <a:avLst>
              <a:gd name="adj" fmla="val 909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365760" y="2176272"/>
            <a:ext cx="5166360" cy="914400"/>
          </a:xfrm>
          <a:prstGeom prst="rect">
            <a:avLst/>
          </a:prstGeom>
          <a:noFill/>
          <a:ln/>
        </p:spPr>
        <p:txBody>
          <a:bodyPr wrap="square" lIns="76200" tIns="76200" rIns="76200" bIns="76200" rtlCol="0" anchor="ctr"/>
          <a:lstStyle/>
          <a:p>
            <a:pPr indent="0" marL="0">
              <a:buNone/>
            </a:pPr>
            <a:r>
              <a:rPr lang="en-US" sz="1300" dirty="0">
                <a:solidFill>
                  <a:srgbClr val="1B2E45"/>
                </a:solidFill>
                <a:latin typeface="Calibri" pitchFamily="34" charset="0"/>
                <a:ea typeface="Calibri" pitchFamily="34" charset="-122"/>
                <a:cs typeface="Calibri" pitchFamily="34" charset="-120"/>
              </a:rPr>
              <a:t>Businesses lose revenue when customers leave unexpectedly.</a:t>
            </a:r>
            <a:endParaRPr lang="en-US" sz="1300" dirty="0"/>
          </a:p>
        </p:txBody>
      </p:sp>
      <p:sp>
        <p:nvSpPr>
          <p:cNvPr id="8" name="Shape 6"/>
          <p:cNvSpPr/>
          <p:nvPr/>
        </p:nvSpPr>
        <p:spPr>
          <a:xfrm>
            <a:off x="274320" y="3300984"/>
            <a:ext cx="5303520" cy="1005840"/>
          </a:xfrm>
          <a:prstGeom prst="roundRect">
            <a:avLst>
              <a:gd name="adj" fmla="val 909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365760" y="3346704"/>
            <a:ext cx="5166360" cy="914400"/>
          </a:xfrm>
          <a:prstGeom prst="rect">
            <a:avLst/>
          </a:prstGeom>
          <a:noFill/>
          <a:ln/>
        </p:spPr>
        <p:txBody>
          <a:bodyPr wrap="square" lIns="76200" tIns="76200" rIns="76200" bIns="76200" rtlCol="0" anchor="ctr"/>
          <a:lstStyle/>
          <a:p>
            <a:pPr indent="0" marL="0">
              <a:buNone/>
            </a:pPr>
            <a:r>
              <a:rPr lang="en-US" sz="1300" dirty="0">
                <a:solidFill>
                  <a:srgbClr val="1B2E45"/>
                </a:solidFill>
                <a:latin typeface="Calibri" pitchFamily="34" charset="0"/>
                <a:ea typeface="Calibri" pitchFamily="34" charset="-122"/>
                <a:cs typeface="Calibri" pitchFamily="34" charset="-120"/>
              </a:rPr>
              <a:t>Machine Learning helps identify customers likely to leave, enabling preventive action.</a:t>
            </a:r>
            <a:endParaRPr lang="en-US" sz="1300" dirty="0"/>
          </a:p>
        </p:txBody>
      </p:sp>
      <p:sp>
        <p:nvSpPr>
          <p:cNvPr id="10" name="Shape 8"/>
          <p:cNvSpPr/>
          <p:nvPr/>
        </p:nvSpPr>
        <p:spPr>
          <a:xfrm>
            <a:off x="5852160" y="914400"/>
            <a:ext cx="3017520" cy="3931920"/>
          </a:xfrm>
          <a:prstGeom prst="roundRect">
            <a:avLst>
              <a:gd name="adj" fmla="val 4545"/>
            </a:avLst>
          </a:prstGeom>
          <a:solidFill>
            <a:srgbClr val="0D1B2A"/>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5852160" y="960120"/>
            <a:ext cx="3017520" cy="502920"/>
          </a:xfrm>
          <a:prstGeom prst="rect">
            <a:avLst/>
          </a:prstGeom>
          <a:noFill/>
          <a:ln/>
        </p:spPr>
        <p:txBody>
          <a:bodyPr wrap="square" lIns="0" tIns="0" rIns="0" bIns="0" rtlCol="0" anchor="ctr"/>
          <a:lstStyle/>
          <a:p>
            <a:pPr algn="ctr" indent="0" marL="0">
              <a:buNone/>
            </a:pPr>
            <a:r>
              <a:rPr lang="en-US" sz="1600" b="1" dirty="0">
                <a:solidFill>
                  <a:srgbClr val="1DC9D8"/>
                </a:solidFill>
                <a:latin typeface="Cambria" pitchFamily="34" charset="0"/>
                <a:ea typeface="Cambria" pitchFamily="34" charset="-122"/>
                <a:cs typeface="Cambria" pitchFamily="34" charset="-120"/>
              </a:rPr>
              <a:t>Industries</a:t>
            </a:r>
            <a:endParaRPr lang="en-US" sz="1600" dirty="0"/>
          </a:p>
        </p:txBody>
      </p:sp>
      <p:sp>
        <p:nvSpPr>
          <p:cNvPr id="12" name="Text 10"/>
          <p:cNvSpPr/>
          <p:nvPr/>
        </p:nvSpPr>
        <p:spPr>
          <a:xfrm>
            <a:off x="5989320" y="1508760"/>
            <a:ext cx="2743200" cy="502920"/>
          </a:xfrm>
          <a:prstGeom prst="rect">
            <a:avLst/>
          </a:prstGeom>
          <a:noFill/>
          <a:ln/>
        </p:spPr>
        <p:txBody>
          <a:bodyPr wrap="square" lIns="50800" tIns="50800" rIns="50800" bIns="5080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Banking</a:t>
            </a:r>
            <a:endParaRPr lang="en-US" sz="1300" dirty="0"/>
          </a:p>
        </p:txBody>
      </p:sp>
      <p:sp>
        <p:nvSpPr>
          <p:cNvPr id="13" name="Text 11"/>
          <p:cNvSpPr/>
          <p:nvPr/>
        </p:nvSpPr>
        <p:spPr>
          <a:xfrm>
            <a:off x="5989320" y="2103120"/>
            <a:ext cx="2743200" cy="502920"/>
          </a:xfrm>
          <a:prstGeom prst="rect">
            <a:avLst/>
          </a:prstGeom>
          <a:noFill/>
          <a:ln/>
        </p:spPr>
        <p:txBody>
          <a:bodyPr wrap="square" lIns="50800" tIns="50800" rIns="50800" bIns="5080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Telecom</a:t>
            </a:r>
            <a:endParaRPr lang="en-US" sz="1300" dirty="0"/>
          </a:p>
        </p:txBody>
      </p:sp>
      <p:sp>
        <p:nvSpPr>
          <p:cNvPr id="14" name="Text 12"/>
          <p:cNvSpPr/>
          <p:nvPr/>
        </p:nvSpPr>
        <p:spPr>
          <a:xfrm>
            <a:off x="5989320" y="2697480"/>
            <a:ext cx="2743200" cy="502920"/>
          </a:xfrm>
          <a:prstGeom prst="rect">
            <a:avLst/>
          </a:prstGeom>
          <a:noFill/>
          <a:ln/>
        </p:spPr>
        <p:txBody>
          <a:bodyPr wrap="square" lIns="50800" tIns="50800" rIns="50800" bIns="5080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E-commerce</a:t>
            </a:r>
            <a:endParaRPr lang="en-US" sz="1300" dirty="0"/>
          </a:p>
        </p:txBody>
      </p:sp>
      <p:sp>
        <p:nvSpPr>
          <p:cNvPr id="15" name="Text 13"/>
          <p:cNvSpPr/>
          <p:nvPr/>
        </p:nvSpPr>
        <p:spPr>
          <a:xfrm>
            <a:off x="5989320" y="3291840"/>
            <a:ext cx="2743200" cy="502920"/>
          </a:xfrm>
          <a:prstGeom prst="rect">
            <a:avLst/>
          </a:prstGeom>
          <a:noFill/>
          <a:ln/>
        </p:spPr>
        <p:txBody>
          <a:bodyPr wrap="square" lIns="50800" tIns="50800" rIns="50800" bIns="5080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OTT Platforms</a:t>
            </a:r>
            <a:endParaRPr lang="en-US" sz="1300" dirty="0"/>
          </a:p>
        </p:txBody>
      </p:sp>
      <p:sp>
        <p:nvSpPr>
          <p:cNvPr id="16" name="Text 14"/>
          <p:cNvSpPr/>
          <p:nvPr/>
        </p:nvSpPr>
        <p:spPr>
          <a:xfrm>
            <a:off x="5989320" y="3886200"/>
            <a:ext cx="2743200" cy="502920"/>
          </a:xfrm>
          <a:prstGeom prst="rect">
            <a:avLst/>
          </a:prstGeom>
          <a:noFill/>
          <a:ln/>
        </p:spPr>
        <p:txBody>
          <a:bodyPr wrap="square" lIns="50800" tIns="50800" rIns="50800" bIns="5080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Insurance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274320" y="45720"/>
            <a:ext cx="859536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Problem Statement</a:t>
            </a:r>
            <a:endParaRPr lang="en-US" sz="2600" dirty="0"/>
          </a:p>
        </p:txBody>
      </p:sp>
      <p:sp>
        <p:nvSpPr>
          <p:cNvPr id="4" name="Shape 2"/>
          <p:cNvSpPr/>
          <p:nvPr/>
        </p:nvSpPr>
        <p:spPr>
          <a:xfrm>
            <a:off x="274320" y="1005840"/>
            <a:ext cx="4114800" cy="1600200"/>
          </a:xfrm>
          <a:prstGeom prst="roundRect">
            <a:avLst>
              <a:gd name="adj" fmla="val 6857"/>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438912" y="1115568"/>
            <a:ext cx="347472" cy="347472"/>
          </a:xfrm>
          <a:prstGeom prst="ellipse">
            <a:avLst/>
          </a:prstGeom>
          <a:solidFill>
            <a:srgbClr val="E74C3C"/>
          </a:solidFill>
          <a:ln w="12700">
            <a:solidFill>
              <a:srgbClr val="E74C3C"/>
            </a:solidFill>
            <a:prstDash val="solid"/>
          </a:ln>
        </p:spPr>
      </p:sp>
      <p:sp>
        <p:nvSpPr>
          <p:cNvPr id="6" name="Text 4"/>
          <p:cNvSpPr/>
          <p:nvPr/>
        </p:nvSpPr>
        <p:spPr>
          <a:xfrm>
            <a:off x="868680" y="1078992"/>
            <a:ext cx="3383280" cy="41148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High Acquisition Cost</a:t>
            </a:r>
            <a:endParaRPr lang="en-US" sz="1400" dirty="0"/>
          </a:p>
        </p:txBody>
      </p:sp>
      <p:sp>
        <p:nvSpPr>
          <p:cNvPr id="7" name="Text 5"/>
          <p:cNvSpPr/>
          <p:nvPr/>
        </p:nvSpPr>
        <p:spPr>
          <a:xfrm>
            <a:off x="457200" y="1554480"/>
            <a:ext cx="3749040" cy="82296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Acquiring new customers costs 5–7× more than retaining existing ones.</a:t>
            </a:r>
            <a:endParaRPr lang="en-US" sz="1200" dirty="0"/>
          </a:p>
        </p:txBody>
      </p:sp>
      <p:sp>
        <p:nvSpPr>
          <p:cNvPr id="8" name="Shape 6"/>
          <p:cNvSpPr/>
          <p:nvPr/>
        </p:nvSpPr>
        <p:spPr>
          <a:xfrm>
            <a:off x="4754880" y="1005840"/>
            <a:ext cx="4114800" cy="1600200"/>
          </a:xfrm>
          <a:prstGeom prst="roundRect">
            <a:avLst>
              <a:gd name="adj" fmla="val 6857"/>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9" name="Shape 7"/>
          <p:cNvSpPr/>
          <p:nvPr/>
        </p:nvSpPr>
        <p:spPr>
          <a:xfrm>
            <a:off x="4919472" y="1115568"/>
            <a:ext cx="347472" cy="347472"/>
          </a:xfrm>
          <a:prstGeom prst="ellipse">
            <a:avLst/>
          </a:prstGeom>
          <a:solidFill>
            <a:srgbClr val="E74C3C"/>
          </a:solidFill>
          <a:ln w="12700">
            <a:solidFill>
              <a:srgbClr val="E74C3C"/>
            </a:solidFill>
            <a:prstDash val="solid"/>
          </a:ln>
        </p:spPr>
      </p:sp>
      <p:sp>
        <p:nvSpPr>
          <p:cNvPr id="10" name="Text 8"/>
          <p:cNvSpPr/>
          <p:nvPr/>
        </p:nvSpPr>
        <p:spPr>
          <a:xfrm>
            <a:off x="5349240" y="1078992"/>
            <a:ext cx="3383280" cy="41148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Decreasing Loyalty</a:t>
            </a:r>
            <a:endParaRPr lang="en-US" sz="1400" dirty="0"/>
          </a:p>
        </p:txBody>
      </p:sp>
      <p:sp>
        <p:nvSpPr>
          <p:cNvPr id="11" name="Text 9"/>
          <p:cNvSpPr/>
          <p:nvPr/>
        </p:nvSpPr>
        <p:spPr>
          <a:xfrm>
            <a:off x="4937760" y="1554480"/>
            <a:ext cx="3749040" cy="82296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Customers switch providers easily in competitive markets.</a:t>
            </a:r>
            <a:endParaRPr lang="en-US" sz="1200" dirty="0"/>
          </a:p>
        </p:txBody>
      </p:sp>
      <p:sp>
        <p:nvSpPr>
          <p:cNvPr id="12" name="Shape 10"/>
          <p:cNvSpPr/>
          <p:nvPr/>
        </p:nvSpPr>
        <p:spPr>
          <a:xfrm>
            <a:off x="274320" y="2834640"/>
            <a:ext cx="4114800" cy="1600200"/>
          </a:xfrm>
          <a:prstGeom prst="roundRect">
            <a:avLst>
              <a:gd name="adj" fmla="val 6857"/>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3" name="Shape 11"/>
          <p:cNvSpPr/>
          <p:nvPr/>
        </p:nvSpPr>
        <p:spPr>
          <a:xfrm>
            <a:off x="438912" y="2944368"/>
            <a:ext cx="347472" cy="347472"/>
          </a:xfrm>
          <a:prstGeom prst="ellipse">
            <a:avLst/>
          </a:prstGeom>
          <a:solidFill>
            <a:srgbClr val="E74C3C"/>
          </a:solidFill>
          <a:ln w="12700">
            <a:solidFill>
              <a:srgbClr val="E74C3C"/>
            </a:solidFill>
            <a:prstDash val="solid"/>
          </a:ln>
        </p:spPr>
      </p:sp>
      <p:sp>
        <p:nvSpPr>
          <p:cNvPr id="14" name="Text 12"/>
          <p:cNvSpPr/>
          <p:nvPr/>
        </p:nvSpPr>
        <p:spPr>
          <a:xfrm>
            <a:off x="868680" y="2907792"/>
            <a:ext cx="3383280" cy="41148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Revenue Loss</a:t>
            </a:r>
            <a:endParaRPr lang="en-US" sz="1400" dirty="0"/>
          </a:p>
        </p:txBody>
      </p:sp>
      <p:sp>
        <p:nvSpPr>
          <p:cNvPr id="15" name="Text 13"/>
          <p:cNvSpPr/>
          <p:nvPr/>
        </p:nvSpPr>
        <p:spPr>
          <a:xfrm>
            <a:off x="457200" y="3383280"/>
            <a:ext cx="3749040" cy="82296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Undetected churn silently erodes recurring revenue streams.</a:t>
            </a:r>
            <a:endParaRPr lang="en-US" sz="1200" dirty="0"/>
          </a:p>
        </p:txBody>
      </p:sp>
      <p:sp>
        <p:nvSpPr>
          <p:cNvPr id="16" name="Shape 14"/>
          <p:cNvSpPr/>
          <p:nvPr/>
        </p:nvSpPr>
        <p:spPr>
          <a:xfrm>
            <a:off x="4754880" y="2834640"/>
            <a:ext cx="4114800" cy="1600200"/>
          </a:xfrm>
          <a:prstGeom prst="roundRect">
            <a:avLst>
              <a:gd name="adj" fmla="val 6857"/>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7" name="Shape 15"/>
          <p:cNvSpPr/>
          <p:nvPr/>
        </p:nvSpPr>
        <p:spPr>
          <a:xfrm>
            <a:off x="4919472" y="2944368"/>
            <a:ext cx="347472" cy="347472"/>
          </a:xfrm>
          <a:prstGeom prst="ellipse">
            <a:avLst/>
          </a:prstGeom>
          <a:solidFill>
            <a:srgbClr val="E74C3C"/>
          </a:solidFill>
          <a:ln w="12700">
            <a:solidFill>
              <a:srgbClr val="E74C3C"/>
            </a:solidFill>
            <a:prstDash val="solid"/>
          </a:ln>
        </p:spPr>
      </p:sp>
      <p:sp>
        <p:nvSpPr>
          <p:cNvPr id="18" name="Text 16"/>
          <p:cNvSpPr/>
          <p:nvPr/>
        </p:nvSpPr>
        <p:spPr>
          <a:xfrm>
            <a:off x="5349240" y="2907792"/>
            <a:ext cx="3383280" cy="41148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Hard to Identify Risk</a:t>
            </a:r>
            <a:endParaRPr lang="en-US" sz="1400" dirty="0"/>
          </a:p>
        </p:txBody>
      </p:sp>
      <p:sp>
        <p:nvSpPr>
          <p:cNvPr id="19" name="Text 17"/>
          <p:cNvSpPr/>
          <p:nvPr/>
        </p:nvSpPr>
        <p:spPr>
          <a:xfrm>
            <a:off x="4937760" y="3383280"/>
            <a:ext cx="3749040" cy="82296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No clear signals to spot high-risk customers before they leave.</a:t>
            </a:r>
            <a:endParaRPr lang="en-US" sz="1200" dirty="0"/>
          </a:p>
        </p:txBody>
      </p:sp>
      <p:sp>
        <p:nvSpPr>
          <p:cNvPr id="20" name="Shape 18"/>
          <p:cNvSpPr/>
          <p:nvPr/>
        </p:nvSpPr>
        <p:spPr>
          <a:xfrm>
            <a:off x="274320" y="4617720"/>
            <a:ext cx="8595360" cy="411480"/>
          </a:xfrm>
          <a:prstGeom prst="roundRect">
            <a:avLst>
              <a:gd name="adj" fmla="val 22222"/>
            </a:avLst>
          </a:prstGeom>
          <a:solidFill>
            <a:srgbClr val="0E9AA7"/>
          </a:solidFill>
          <a:ln w="12700">
            <a:solidFill>
              <a:srgbClr val="0E9AA7"/>
            </a:solidFill>
            <a:prstDash val="solid"/>
          </a:ln>
        </p:spPr>
      </p:sp>
      <p:sp>
        <p:nvSpPr>
          <p:cNvPr id="21" name="Text 19"/>
          <p:cNvSpPr/>
          <p:nvPr/>
        </p:nvSpPr>
        <p:spPr>
          <a:xfrm>
            <a:off x="365760" y="4626864"/>
            <a:ext cx="8412480"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Solution: An AI-powered model analyzes historical data to predict churn and enable proactive retention strategies.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65760" y="182880"/>
            <a:ext cx="841248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457200" y="1051560"/>
            <a:ext cx="4023360" cy="868680"/>
          </a:xfrm>
          <a:prstGeom prst="roundRect">
            <a:avLst>
              <a:gd name="adj" fmla="val 1052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594360" y="1097280"/>
            <a:ext cx="3749040" cy="777240"/>
          </a:xfrm>
          <a:prstGeom prst="rect">
            <a:avLst/>
          </a:prstGeom>
          <a:noFill/>
          <a:ln/>
        </p:spPr>
        <p:txBody>
          <a:bodyPr wrap="square" lIns="50800" tIns="50800" rIns="50800" bIns="50800" rtlCol="0" anchor="ctr"/>
          <a:lstStyle/>
          <a:p>
            <a:pPr indent="0" marL="0">
              <a:buNone/>
            </a:pPr>
            <a:r>
              <a:rPr lang="en-US" sz="1600" b="1" dirty="0">
                <a:solidFill>
                  <a:srgbClr val="F5A623"/>
                </a:solidFill>
              </a:rPr>
              <a:t>✔  </a:t>
            </a:r>
            <a:pPr indent="0" marL="0">
              <a:buNone/>
            </a:pPr>
            <a:r>
              <a:rPr lang="en-US" sz="1400" dirty="0">
                <a:solidFill>
                  <a:srgbClr val="FFFFFF"/>
                </a:solidFill>
                <a:latin typeface="Calibri" pitchFamily="34" charset="0"/>
                <a:ea typeface="Calibri" pitchFamily="34" charset="-122"/>
                <a:cs typeface="Calibri" pitchFamily="34" charset="-120"/>
              </a:rPr>
              <a:t>Predict customer churn accurately</a:t>
            </a:r>
            <a:endParaRPr lang="en-US" sz="1600" dirty="0"/>
          </a:p>
        </p:txBody>
      </p:sp>
      <p:sp>
        <p:nvSpPr>
          <p:cNvPr id="5" name="Shape 3"/>
          <p:cNvSpPr/>
          <p:nvPr/>
        </p:nvSpPr>
        <p:spPr>
          <a:xfrm>
            <a:off x="457200" y="2103120"/>
            <a:ext cx="4023360" cy="868680"/>
          </a:xfrm>
          <a:prstGeom prst="roundRect">
            <a:avLst>
              <a:gd name="adj" fmla="val 1052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594360" y="2148840"/>
            <a:ext cx="3749040" cy="777240"/>
          </a:xfrm>
          <a:prstGeom prst="rect">
            <a:avLst/>
          </a:prstGeom>
          <a:noFill/>
          <a:ln/>
        </p:spPr>
        <p:txBody>
          <a:bodyPr wrap="square" lIns="50800" tIns="50800" rIns="50800" bIns="50800" rtlCol="0" anchor="ctr"/>
          <a:lstStyle/>
          <a:p>
            <a:pPr indent="0" marL="0">
              <a:buNone/>
            </a:pPr>
            <a:r>
              <a:rPr lang="en-US" sz="1600" b="1" dirty="0">
                <a:solidFill>
                  <a:srgbClr val="F5A623"/>
                </a:solidFill>
              </a:rPr>
              <a:t>✔  </a:t>
            </a:r>
            <a:pPr indent="0" marL="0">
              <a:buNone/>
            </a:pPr>
            <a:r>
              <a:rPr lang="en-US" sz="1400" dirty="0">
                <a:solidFill>
                  <a:srgbClr val="FFFFFF"/>
                </a:solidFill>
                <a:latin typeface="Calibri" pitchFamily="34" charset="0"/>
                <a:ea typeface="Calibri" pitchFamily="34" charset="-122"/>
                <a:cs typeface="Calibri" pitchFamily="34" charset="-120"/>
              </a:rPr>
              <a:t>Analyze customer behavior patterns</a:t>
            </a:r>
            <a:endParaRPr lang="en-US" sz="1600" dirty="0"/>
          </a:p>
        </p:txBody>
      </p:sp>
      <p:sp>
        <p:nvSpPr>
          <p:cNvPr id="7" name="Shape 5"/>
          <p:cNvSpPr/>
          <p:nvPr/>
        </p:nvSpPr>
        <p:spPr>
          <a:xfrm>
            <a:off x="457200" y="3154680"/>
            <a:ext cx="4023360" cy="868680"/>
          </a:xfrm>
          <a:prstGeom prst="roundRect">
            <a:avLst>
              <a:gd name="adj" fmla="val 1052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594360" y="3200400"/>
            <a:ext cx="3749040" cy="777240"/>
          </a:xfrm>
          <a:prstGeom prst="rect">
            <a:avLst/>
          </a:prstGeom>
          <a:noFill/>
          <a:ln/>
        </p:spPr>
        <p:txBody>
          <a:bodyPr wrap="square" lIns="50800" tIns="50800" rIns="50800" bIns="50800" rtlCol="0" anchor="ctr"/>
          <a:lstStyle/>
          <a:p>
            <a:pPr indent="0" marL="0">
              <a:buNone/>
            </a:pPr>
            <a:r>
              <a:rPr lang="en-US" sz="1600" b="1" dirty="0">
                <a:solidFill>
                  <a:srgbClr val="F5A623"/>
                </a:solidFill>
              </a:rPr>
              <a:t>✔  </a:t>
            </a:r>
            <a:pPr indent="0" marL="0">
              <a:buNone/>
            </a:pPr>
            <a:r>
              <a:rPr lang="en-US" sz="1400" dirty="0">
                <a:solidFill>
                  <a:srgbClr val="FFFFFF"/>
                </a:solidFill>
                <a:latin typeface="Calibri" pitchFamily="34" charset="0"/>
                <a:ea typeface="Calibri" pitchFamily="34" charset="-122"/>
                <a:cs typeface="Calibri" pitchFamily="34" charset="-120"/>
              </a:rPr>
              <a:t>Improve customer retention rates</a:t>
            </a:r>
            <a:endParaRPr lang="en-US" sz="1600" dirty="0"/>
          </a:p>
        </p:txBody>
      </p:sp>
      <p:sp>
        <p:nvSpPr>
          <p:cNvPr id="9" name="Shape 7"/>
          <p:cNvSpPr/>
          <p:nvPr/>
        </p:nvSpPr>
        <p:spPr>
          <a:xfrm>
            <a:off x="4937760" y="1051560"/>
            <a:ext cx="4023360" cy="868680"/>
          </a:xfrm>
          <a:prstGeom prst="roundRect">
            <a:avLst>
              <a:gd name="adj" fmla="val 1052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5074920" y="1097280"/>
            <a:ext cx="3749040" cy="777240"/>
          </a:xfrm>
          <a:prstGeom prst="rect">
            <a:avLst/>
          </a:prstGeom>
          <a:noFill/>
          <a:ln/>
        </p:spPr>
        <p:txBody>
          <a:bodyPr wrap="square" lIns="50800" tIns="50800" rIns="50800" bIns="50800" rtlCol="0" anchor="ctr"/>
          <a:lstStyle/>
          <a:p>
            <a:pPr indent="0" marL="0">
              <a:buNone/>
            </a:pPr>
            <a:r>
              <a:rPr lang="en-US" sz="1600" b="1" dirty="0">
                <a:solidFill>
                  <a:srgbClr val="F5A623"/>
                </a:solidFill>
              </a:rPr>
              <a:t>✔  </a:t>
            </a:r>
            <a:pPr indent="0" marL="0">
              <a:buNone/>
            </a:pPr>
            <a:r>
              <a:rPr lang="en-US" sz="1400" dirty="0">
                <a:solidFill>
                  <a:srgbClr val="FFFFFF"/>
                </a:solidFill>
                <a:latin typeface="Calibri" pitchFamily="34" charset="0"/>
                <a:ea typeface="Calibri" pitchFamily="34" charset="-122"/>
                <a:cs typeface="Calibri" pitchFamily="34" charset="-120"/>
              </a:rPr>
              <a:t>Support business decision-making</a:t>
            </a:r>
            <a:endParaRPr lang="en-US" sz="1600" dirty="0"/>
          </a:p>
        </p:txBody>
      </p:sp>
      <p:sp>
        <p:nvSpPr>
          <p:cNvPr id="11" name="Shape 9"/>
          <p:cNvSpPr/>
          <p:nvPr/>
        </p:nvSpPr>
        <p:spPr>
          <a:xfrm>
            <a:off x="4937760" y="2103120"/>
            <a:ext cx="4023360" cy="868680"/>
          </a:xfrm>
          <a:prstGeom prst="roundRect">
            <a:avLst>
              <a:gd name="adj" fmla="val 1052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5074920" y="2148840"/>
            <a:ext cx="3749040" cy="777240"/>
          </a:xfrm>
          <a:prstGeom prst="rect">
            <a:avLst/>
          </a:prstGeom>
          <a:noFill/>
          <a:ln/>
        </p:spPr>
        <p:txBody>
          <a:bodyPr wrap="square" lIns="50800" tIns="50800" rIns="50800" bIns="50800" rtlCol="0" anchor="ctr"/>
          <a:lstStyle/>
          <a:p>
            <a:pPr indent="0" marL="0">
              <a:buNone/>
            </a:pPr>
            <a:r>
              <a:rPr lang="en-US" sz="1600" b="1" dirty="0">
                <a:solidFill>
                  <a:srgbClr val="F5A623"/>
                </a:solidFill>
              </a:rPr>
              <a:t>✔  </a:t>
            </a:r>
            <a:pPr indent="0" marL="0">
              <a:buNone/>
            </a:pPr>
            <a:r>
              <a:rPr lang="en-US" sz="1400" dirty="0">
                <a:solidFill>
                  <a:srgbClr val="FFFFFF"/>
                </a:solidFill>
                <a:latin typeface="Calibri" pitchFamily="34" charset="0"/>
                <a:ea typeface="Calibri" pitchFamily="34" charset="-122"/>
                <a:cs typeface="Calibri" pitchFamily="34" charset="-120"/>
              </a:rPr>
              <a:t>Reduce revenue loss proactively</a:t>
            </a:r>
            <a:endParaRPr lang="en-US" sz="1600" dirty="0"/>
          </a:p>
        </p:txBody>
      </p:sp>
      <p:sp>
        <p:nvSpPr>
          <p:cNvPr id="13" name="Shape 11"/>
          <p:cNvSpPr/>
          <p:nvPr/>
        </p:nvSpPr>
        <p:spPr>
          <a:xfrm>
            <a:off x="4846320" y="3200400"/>
            <a:ext cx="4023360" cy="1691640"/>
          </a:xfrm>
          <a:prstGeom prst="roundRect">
            <a:avLst>
              <a:gd name="adj" fmla="val 6486"/>
            </a:avLst>
          </a:prstGeom>
          <a:solidFill>
            <a:srgbClr val="0E9AA7"/>
          </a:solidFill>
          <a:ln w="12700">
            <a:solidFill>
              <a:srgbClr val="1DC9D8"/>
            </a:solidFill>
            <a:prstDash val="solid"/>
          </a:ln>
          <a:effectLst>
            <a:outerShdw sx="100000" sy="100000" kx="0" ky="0" algn="bl" rotWithShape="0" blurRad="101600" dist="38100" dir="2700000">
              <a:srgbClr val="000000">
                <a:alpha val="18000"/>
              </a:srgbClr>
            </a:outerShdw>
          </a:effectLst>
        </p:spPr>
      </p:sp>
      <p:sp>
        <p:nvSpPr>
          <p:cNvPr id="14" name="Text 12"/>
          <p:cNvSpPr/>
          <p:nvPr/>
        </p:nvSpPr>
        <p:spPr>
          <a:xfrm>
            <a:off x="4846320" y="3246120"/>
            <a:ext cx="4023360" cy="411480"/>
          </a:xfrm>
          <a:prstGeom prst="rect">
            <a:avLst/>
          </a:prstGeom>
          <a:noFill/>
          <a:ln/>
        </p:spPr>
        <p:txBody>
          <a:bodyPr wrap="square" lIns="0" tIns="0" rIns="0" bIns="0" rtlCol="0" anchor="ctr"/>
          <a:lstStyle/>
          <a:p>
            <a:pPr algn="ctr" indent="0" marL="0">
              <a:buNone/>
            </a:pPr>
            <a:r>
              <a:rPr lang="en-US" sz="1400" b="1" dirty="0">
                <a:solidFill>
                  <a:srgbClr val="0D1B2A"/>
                </a:solidFill>
                <a:latin typeface="Cambria" pitchFamily="34" charset="0"/>
                <a:ea typeface="Cambria" pitchFamily="34" charset="-122"/>
                <a:cs typeface="Cambria" pitchFamily="34" charset="-120"/>
              </a:rPr>
              <a:t>Expected Outcome</a:t>
            </a:r>
            <a:endParaRPr lang="en-US" sz="1400" dirty="0"/>
          </a:p>
        </p:txBody>
      </p:sp>
      <p:sp>
        <p:nvSpPr>
          <p:cNvPr id="15" name="Text 13"/>
          <p:cNvSpPr/>
          <p:nvPr/>
        </p:nvSpPr>
        <p:spPr>
          <a:xfrm>
            <a:off x="4983480" y="3657600"/>
            <a:ext cx="3749040" cy="1143000"/>
          </a:xfrm>
          <a:prstGeom prst="rect">
            <a:avLst/>
          </a:prstGeom>
          <a:noFill/>
          <a:ln/>
        </p:spPr>
        <p:txBody>
          <a:bodyPr wrap="square" lIns="50800" tIns="50800" rIns="50800" bIns="5080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Data-driven insights help organizations focus on customers most likely to leave — enabling targeted retention campaigns.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274320" y="45720"/>
            <a:ext cx="859536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Technology Stack</a:t>
            </a:r>
            <a:endParaRPr lang="en-US" sz="2600" dirty="0"/>
          </a:p>
        </p:txBody>
      </p:sp>
      <p:sp>
        <p:nvSpPr>
          <p:cNvPr id="4" name="Shape 2"/>
          <p:cNvSpPr/>
          <p:nvPr/>
        </p:nvSpPr>
        <p:spPr>
          <a:xfrm>
            <a:off x="274320" y="960120"/>
            <a:ext cx="2011680" cy="3931920"/>
          </a:xfrm>
          <a:prstGeom prst="roundRect">
            <a:avLst>
              <a:gd name="adj" fmla="val 5455"/>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274320" y="960120"/>
            <a:ext cx="2011680" cy="548640"/>
          </a:xfrm>
          <a:prstGeom prst="roundRect">
            <a:avLst>
              <a:gd name="adj" fmla="val 20000"/>
            </a:avLst>
          </a:prstGeom>
          <a:solidFill>
            <a:srgbClr val="0D1B2A"/>
          </a:solidFill>
          <a:ln w="12700">
            <a:solidFill>
              <a:srgbClr val="0D1B2A"/>
            </a:solidFill>
            <a:prstDash val="solid"/>
          </a:ln>
        </p:spPr>
      </p:sp>
      <p:sp>
        <p:nvSpPr>
          <p:cNvPr id="6" name="Text 4"/>
          <p:cNvSpPr/>
          <p:nvPr/>
        </p:nvSpPr>
        <p:spPr>
          <a:xfrm>
            <a:off x="274320" y="987552"/>
            <a:ext cx="2011680" cy="493776"/>
          </a:xfrm>
          <a:prstGeom prst="rect">
            <a:avLst/>
          </a:prstGeom>
          <a:noFill/>
          <a:ln/>
        </p:spPr>
        <p:txBody>
          <a:bodyPr wrap="square" lIns="0" tIns="0" rIns="0" bIns="0" rtlCol="0" anchor="ctr"/>
          <a:lstStyle/>
          <a:p>
            <a:pPr algn="ctr" indent="0" marL="0">
              <a:buNone/>
            </a:pPr>
            <a:r>
              <a:rPr lang="en-US" sz="1300" b="1" dirty="0">
                <a:solidFill>
                  <a:srgbClr val="1DC9D8"/>
                </a:solidFill>
                <a:latin typeface="Cambria" pitchFamily="34" charset="0"/>
                <a:ea typeface="Cambria" pitchFamily="34" charset="-122"/>
                <a:cs typeface="Cambria" pitchFamily="34" charset="-120"/>
              </a:rPr>
              <a:t>Programming</a:t>
            </a:r>
            <a:endParaRPr lang="en-US" sz="1300" dirty="0"/>
          </a:p>
        </p:txBody>
      </p:sp>
      <p:sp>
        <p:nvSpPr>
          <p:cNvPr id="7" name="Text 5"/>
          <p:cNvSpPr/>
          <p:nvPr/>
        </p:nvSpPr>
        <p:spPr>
          <a:xfrm>
            <a:off x="384048" y="160020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Python 3.x</a:t>
            </a:r>
            <a:endParaRPr lang="en-US" sz="1200" dirty="0"/>
          </a:p>
        </p:txBody>
      </p:sp>
      <p:sp>
        <p:nvSpPr>
          <p:cNvPr id="8" name="Shape 6"/>
          <p:cNvSpPr/>
          <p:nvPr/>
        </p:nvSpPr>
        <p:spPr>
          <a:xfrm>
            <a:off x="2423160" y="960120"/>
            <a:ext cx="2011680" cy="3931920"/>
          </a:xfrm>
          <a:prstGeom prst="roundRect">
            <a:avLst>
              <a:gd name="adj" fmla="val 5455"/>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9" name="Shape 7"/>
          <p:cNvSpPr/>
          <p:nvPr/>
        </p:nvSpPr>
        <p:spPr>
          <a:xfrm>
            <a:off x="2423160" y="960120"/>
            <a:ext cx="2011680" cy="548640"/>
          </a:xfrm>
          <a:prstGeom prst="roundRect">
            <a:avLst>
              <a:gd name="adj" fmla="val 20000"/>
            </a:avLst>
          </a:prstGeom>
          <a:solidFill>
            <a:srgbClr val="0D1B2A"/>
          </a:solidFill>
          <a:ln w="12700">
            <a:solidFill>
              <a:srgbClr val="0D1B2A"/>
            </a:solidFill>
            <a:prstDash val="solid"/>
          </a:ln>
        </p:spPr>
      </p:sp>
      <p:sp>
        <p:nvSpPr>
          <p:cNvPr id="10" name="Text 8"/>
          <p:cNvSpPr/>
          <p:nvPr/>
        </p:nvSpPr>
        <p:spPr>
          <a:xfrm>
            <a:off x="2423160" y="987552"/>
            <a:ext cx="2011680" cy="493776"/>
          </a:xfrm>
          <a:prstGeom prst="rect">
            <a:avLst/>
          </a:prstGeom>
          <a:noFill/>
          <a:ln/>
        </p:spPr>
        <p:txBody>
          <a:bodyPr wrap="square" lIns="0" tIns="0" rIns="0" bIns="0" rtlCol="0" anchor="ctr"/>
          <a:lstStyle/>
          <a:p>
            <a:pPr algn="ctr" indent="0" marL="0">
              <a:buNone/>
            </a:pPr>
            <a:r>
              <a:rPr lang="en-US" sz="1300" b="1" dirty="0">
                <a:solidFill>
                  <a:srgbClr val="1DC9D8"/>
                </a:solidFill>
                <a:latin typeface="Cambria" pitchFamily="34" charset="0"/>
                <a:ea typeface="Cambria" pitchFamily="34" charset="-122"/>
                <a:cs typeface="Cambria" pitchFamily="34" charset="-120"/>
              </a:rPr>
              <a:t>Libraries</a:t>
            </a:r>
            <a:endParaRPr lang="en-US" sz="1300" dirty="0"/>
          </a:p>
        </p:txBody>
      </p:sp>
      <p:sp>
        <p:nvSpPr>
          <p:cNvPr id="11" name="Text 9"/>
          <p:cNvSpPr/>
          <p:nvPr/>
        </p:nvSpPr>
        <p:spPr>
          <a:xfrm>
            <a:off x="2532888" y="160020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Pandas</a:t>
            </a:r>
            <a:endParaRPr lang="en-US" sz="1200" dirty="0"/>
          </a:p>
        </p:txBody>
      </p:sp>
      <p:sp>
        <p:nvSpPr>
          <p:cNvPr id="12" name="Text 10"/>
          <p:cNvSpPr/>
          <p:nvPr/>
        </p:nvSpPr>
        <p:spPr>
          <a:xfrm>
            <a:off x="2532888" y="219456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NumPy</a:t>
            </a:r>
            <a:endParaRPr lang="en-US" sz="1200" dirty="0"/>
          </a:p>
        </p:txBody>
      </p:sp>
      <p:sp>
        <p:nvSpPr>
          <p:cNvPr id="13" name="Text 11"/>
          <p:cNvSpPr/>
          <p:nvPr/>
        </p:nvSpPr>
        <p:spPr>
          <a:xfrm>
            <a:off x="2532888" y="278892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Scikit-learn</a:t>
            </a:r>
            <a:endParaRPr lang="en-US" sz="1200" dirty="0"/>
          </a:p>
        </p:txBody>
      </p:sp>
      <p:sp>
        <p:nvSpPr>
          <p:cNvPr id="14" name="Text 12"/>
          <p:cNvSpPr/>
          <p:nvPr/>
        </p:nvSpPr>
        <p:spPr>
          <a:xfrm>
            <a:off x="2532888" y="338328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Matplotlib</a:t>
            </a:r>
            <a:endParaRPr lang="en-US" sz="1200" dirty="0"/>
          </a:p>
        </p:txBody>
      </p:sp>
      <p:sp>
        <p:nvSpPr>
          <p:cNvPr id="15" name="Text 13"/>
          <p:cNvSpPr/>
          <p:nvPr/>
        </p:nvSpPr>
        <p:spPr>
          <a:xfrm>
            <a:off x="2532888" y="397764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Seaborn</a:t>
            </a:r>
            <a:endParaRPr lang="en-US" sz="1200" dirty="0"/>
          </a:p>
        </p:txBody>
      </p:sp>
      <p:sp>
        <p:nvSpPr>
          <p:cNvPr id="16" name="Shape 14"/>
          <p:cNvSpPr/>
          <p:nvPr/>
        </p:nvSpPr>
        <p:spPr>
          <a:xfrm>
            <a:off x="4572000" y="960120"/>
            <a:ext cx="2011680" cy="3931920"/>
          </a:xfrm>
          <a:prstGeom prst="roundRect">
            <a:avLst>
              <a:gd name="adj" fmla="val 5455"/>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7" name="Shape 15"/>
          <p:cNvSpPr/>
          <p:nvPr/>
        </p:nvSpPr>
        <p:spPr>
          <a:xfrm>
            <a:off x="4572000" y="960120"/>
            <a:ext cx="2011680" cy="548640"/>
          </a:xfrm>
          <a:prstGeom prst="roundRect">
            <a:avLst>
              <a:gd name="adj" fmla="val 20000"/>
            </a:avLst>
          </a:prstGeom>
          <a:solidFill>
            <a:srgbClr val="0D1B2A"/>
          </a:solidFill>
          <a:ln w="12700">
            <a:solidFill>
              <a:srgbClr val="0D1B2A"/>
            </a:solidFill>
            <a:prstDash val="solid"/>
          </a:ln>
        </p:spPr>
      </p:sp>
      <p:sp>
        <p:nvSpPr>
          <p:cNvPr id="18" name="Text 16"/>
          <p:cNvSpPr/>
          <p:nvPr/>
        </p:nvSpPr>
        <p:spPr>
          <a:xfrm>
            <a:off x="4572000" y="987552"/>
            <a:ext cx="2011680" cy="493776"/>
          </a:xfrm>
          <a:prstGeom prst="rect">
            <a:avLst/>
          </a:prstGeom>
          <a:noFill/>
          <a:ln/>
        </p:spPr>
        <p:txBody>
          <a:bodyPr wrap="square" lIns="0" tIns="0" rIns="0" bIns="0" rtlCol="0" anchor="ctr"/>
          <a:lstStyle/>
          <a:p>
            <a:pPr algn="ctr" indent="0" marL="0">
              <a:buNone/>
            </a:pPr>
            <a:r>
              <a:rPr lang="en-US" sz="1300" b="1" dirty="0">
                <a:solidFill>
                  <a:srgbClr val="1DC9D8"/>
                </a:solidFill>
                <a:latin typeface="Cambria" pitchFamily="34" charset="0"/>
                <a:ea typeface="Cambria" pitchFamily="34" charset="-122"/>
                <a:cs typeface="Cambria" pitchFamily="34" charset="-120"/>
              </a:rPr>
              <a:t>ML Algorithms</a:t>
            </a:r>
            <a:endParaRPr lang="en-US" sz="1300" dirty="0"/>
          </a:p>
        </p:txBody>
      </p:sp>
      <p:sp>
        <p:nvSpPr>
          <p:cNvPr id="19" name="Text 17"/>
          <p:cNvSpPr/>
          <p:nvPr/>
        </p:nvSpPr>
        <p:spPr>
          <a:xfrm>
            <a:off x="4681728" y="160020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Logistic Regression</a:t>
            </a:r>
            <a:endParaRPr lang="en-US" sz="1200" dirty="0"/>
          </a:p>
        </p:txBody>
      </p:sp>
      <p:sp>
        <p:nvSpPr>
          <p:cNvPr id="20" name="Text 18"/>
          <p:cNvSpPr/>
          <p:nvPr/>
        </p:nvSpPr>
        <p:spPr>
          <a:xfrm>
            <a:off x="4681728" y="219456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Random Forest</a:t>
            </a:r>
            <a:endParaRPr lang="en-US" sz="1200" dirty="0"/>
          </a:p>
        </p:txBody>
      </p:sp>
      <p:sp>
        <p:nvSpPr>
          <p:cNvPr id="21" name="Text 19"/>
          <p:cNvSpPr/>
          <p:nvPr/>
        </p:nvSpPr>
        <p:spPr>
          <a:xfrm>
            <a:off x="4681728" y="278892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Decision Tree</a:t>
            </a:r>
            <a:endParaRPr lang="en-US" sz="1200" dirty="0"/>
          </a:p>
        </p:txBody>
      </p:sp>
      <p:sp>
        <p:nvSpPr>
          <p:cNvPr id="22" name="Shape 20"/>
          <p:cNvSpPr/>
          <p:nvPr/>
        </p:nvSpPr>
        <p:spPr>
          <a:xfrm>
            <a:off x="6720840" y="960120"/>
            <a:ext cx="2011680" cy="3931920"/>
          </a:xfrm>
          <a:prstGeom prst="roundRect">
            <a:avLst>
              <a:gd name="adj" fmla="val 5455"/>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23" name="Shape 21"/>
          <p:cNvSpPr/>
          <p:nvPr/>
        </p:nvSpPr>
        <p:spPr>
          <a:xfrm>
            <a:off x="6720840" y="960120"/>
            <a:ext cx="2011680" cy="548640"/>
          </a:xfrm>
          <a:prstGeom prst="roundRect">
            <a:avLst>
              <a:gd name="adj" fmla="val 20000"/>
            </a:avLst>
          </a:prstGeom>
          <a:solidFill>
            <a:srgbClr val="0D1B2A"/>
          </a:solidFill>
          <a:ln w="12700">
            <a:solidFill>
              <a:srgbClr val="0D1B2A"/>
            </a:solidFill>
            <a:prstDash val="solid"/>
          </a:ln>
        </p:spPr>
      </p:sp>
      <p:sp>
        <p:nvSpPr>
          <p:cNvPr id="24" name="Text 22"/>
          <p:cNvSpPr/>
          <p:nvPr/>
        </p:nvSpPr>
        <p:spPr>
          <a:xfrm>
            <a:off x="6720840" y="987552"/>
            <a:ext cx="2011680" cy="493776"/>
          </a:xfrm>
          <a:prstGeom prst="rect">
            <a:avLst/>
          </a:prstGeom>
          <a:noFill/>
          <a:ln/>
        </p:spPr>
        <p:txBody>
          <a:bodyPr wrap="square" lIns="0" tIns="0" rIns="0" bIns="0" rtlCol="0" anchor="ctr"/>
          <a:lstStyle/>
          <a:p>
            <a:pPr algn="ctr" indent="0" marL="0">
              <a:buNone/>
            </a:pPr>
            <a:r>
              <a:rPr lang="en-US" sz="1300" b="1" dirty="0">
                <a:solidFill>
                  <a:srgbClr val="1DC9D8"/>
                </a:solidFill>
                <a:latin typeface="Cambria" pitchFamily="34" charset="0"/>
                <a:ea typeface="Cambria" pitchFamily="34" charset="-122"/>
                <a:cs typeface="Cambria" pitchFamily="34" charset="-120"/>
              </a:rPr>
              <a:t>Environment</a:t>
            </a:r>
            <a:endParaRPr lang="en-US" sz="1300" dirty="0"/>
          </a:p>
        </p:txBody>
      </p:sp>
      <p:sp>
        <p:nvSpPr>
          <p:cNvPr id="25" name="Text 23"/>
          <p:cNvSpPr/>
          <p:nvPr/>
        </p:nvSpPr>
        <p:spPr>
          <a:xfrm>
            <a:off x="6830568" y="160020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Jupyter Notebook</a:t>
            </a:r>
            <a:endParaRPr lang="en-US" sz="1200" dirty="0"/>
          </a:p>
        </p:txBody>
      </p:sp>
      <p:sp>
        <p:nvSpPr>
          <p:cNvPr id="26" name="Text 24"/>
          <p:cNvSpPr/>
          <p:nvPr/>
        </p:nvSpPr>
        <p:spPr>
          <a:xfrm>
            <a:off x="6830568" y="2194560"/>
            <a:ext cx="1792224" cy="502920"/>
          </a:xfrm>
          <a:prstGeom prst="rect">
            <a:avLst/>
          </a:prstGeom>
          <a:noFill/>
          <a:ln/>
        </p:spPr>
        <p:txBody>
          <a:bodyPr wrap="square" lIns="50800" tIns="50800" rIns="50800" bIns="50800" rtlCol="0" anchor="ctr"/>
          <a:lstStyle/>
          <a:p>
            <a:pPr indent="0" marL="0">
              <a:buNone/>
            </a:pPr>
            <a:r>
              <a:rPr lang="en-US" sz="1200" dirty="0">
                <a:solidFill>
                  <a:srgbClr val="1B2E45"/>
                </a:solidFill>
                <a:latin typeface="Calibri" pitchFamily="34" charset="0"/>
                <a:ea typeface="Calibri" pitchFamily="34" charset="-122"/>
                <a:cs typeface="Calibri" pitchFamily="34" charset="-120"/>
              </a:rPr>
              <a:t>• VS Code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274320" y="91440"/>
            <a:ext cx="85953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System Workflow</a:t>
            </a:r>
            <a:endParaRPr lang="en-US" sz="2800" dirty="0"/>
          </a:p>
        </p:txBody>
      </p:sp>
      <p:sp>
        <p:nvSpPr>
          <p:cNvPr id="3" name="Shape 1"/>
          <p:cNvSpPr/>
          <p:nvPr/>
        </p:nvSpPr>
        <p:spPr>
          <a:xfrm>
            <a:off x="1920240" y="841248"/>
            <a:ext cx="5303520" cy="475488"/>
          </a:xfrm>
          <a:prstGeom prst="roundRect">
            <a:avLst>
              <a:gd name="adj" fmla="val 19231"/>
            </a:avLst>
          </a:prstGeom>
          <a:solidFill>
            <a:srgbClr val="0E9AA7"/>
          </a:solidFill>
          <a:ln w="12700">
            <a:solidFill>
              <a:srgbClr val="1DC9D8"/>
            </a:solidFill>
            <a:prstDash val="solid"/>
          </a:ln>
          <a:effectLst>
            <a:outerShdw sx="100000" sy="100000" kx="0" ky="0" algn="bl" rotWithShape="0" blurRad="101600" dist="38100" dir="2700000">
              <a:srgbClr val="000000">
                <a:alpha val="18000"/>
              </a:srgbClr>
            </a:outerShdw>
          </a:effectLst>
        </p:spPr>
      </p:sp>
      <p:sp>
        <p:nvSpPr>
          <p:cNvPr id="4" name="Shape 2"/>
          <p:cNvSpPr/>
          <p:nvPr/>
        </p:nvSpPr>
        <p:spPr>
          <a:xfrm>
            <a:off x="2011680" y="905256"/>
            <a:ext cx="347472" cy="347472"/>
          </a:xfrm>
          <a:prstGeom prst="ellipse">
            <a:avLst/>
          </a:prstGeom>
          <a:solidFill>
            <a:srgbClr val="0D1B2A"/>
          </a:solidFill>
          <a:ln w="12700">
            <a:solidFill>
              <a:srgbClr val="0D1B2A"/>
            </a:solidFill>
            <a:prstDash val="solid"/>
          </a:ln>
        </p:spPr>
      </p:sp>
      <p:sp>
        <p:nvSpPr>
          <p:cNvPr id="5" name="Text 3"/>
          <p:cNvSpPr/>
          <p:nvPr/>
        </p:nvSpPr>
        <p:spPr>
          <a:xfrm>
            <a:off x="2011680" y="90525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2468880" y="86868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Customer Dataset</a:t>
            </a:r>
            <a:endParaRPr lang="en-US" sz="1300" dirty="0"/>
          </a:p>
        </p:txBody>
      </p:sp>
      <p:sp>
        <p:nvSpPr>
          <p:cNvPr id="7" name="Shape 5"/>
          <p:cNvSpPr/>
          <p:nvPr/>
        </p:nvSpPr>
        <p:spPr>
          <a:xfrm>
            <a:off x="4553712" y="932688"/>
            <a:ext cx="0" cy="292608"/>
          </a:xfrm>
          <a:prstGeom prst="line">
            <a:avLst/>
          </a:prstGeom>
          <a:noFill/>
          <a:ln w="12700">
            <a:solidFill>
              <a:srgbClr val="0D1B2A"/>
            </a:solidFill>
            <a:prstDash val="solid"/>
          </a:ln>
        </p:spPr>
      </p:sp>
      <p:sp>
        <p:nvSpPr>
          <p:cNvPr id="8" name="Text 6"/>
          <p:cNvSpPr/>
          <p:nvPr/>
        </p:nvSpPr>
        <p:spPr>
          <a:xfrm>
            <a:off x="4709160" y="868680"/>
            <a:ext cx="2423160" cy="420624"/>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Raw customer data collected from various sources</a:t>
            </a:r>
            <a:endParaRPr lang="en-US" sz="1150" dirty="0"/>
          </a:p>
        </p:txBody>
      </p:sp>
      <p:sp>
        <p:nvSpPr>
          <p:cNvPr id="9" name="Shape 7"/>
          <p:cNvSpPr/>
          <p:nvPr/>
        </p:nvSpPr>
        <p:spPr>
          <a:xfrm>
            <a:off x="4572000" y="1316736"/>
            <a:ext cx="0" cy="164592"/>
          </a:xfrm>
          <a:prstGeom prst="line">
            <a:avLst/>
          </a:prstGeom>
          <a:noFill/>
          <a:ln w="25400">
            <a:solidFill>
              <a:srgbClr val="1DC9D8"/>
            </a:solidFill>
            <a:prstDash val="solid"/>
          </a:ln>
        </p:spPr>
      </p:sp>
      <p:sp>
        <p:nvSpPr>
          <p:cNvPr id="10" name="Shape 8"/>
          <p:cNvSpPr/>
          <p:nvPr/>
        </p:nvSpPr>
        <p:spPr>
          <a:xfrm>
            <a:off x="1920240" y="1481328"/>
            <a:ext cx="5303520" cy="475488"/>
          </a:xfrm>
          <a:prstGeom prst="roundRect">
            <a:avLst>
              <a:gd name="adj" fmla="val 1923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1" name="Shape 9"/>
          <p:cNvSpPr/>
          <p:nvPr/>
        </p:nvSpPr>
        <p:spPr>
          <a:xfrm>
            <a:off x="2011680" y="1545336"/>
            <a:ext cx="347472" cy="347472"/>
          </a:xfrm>
          <a:prstGeom prst="ellipse">
            <a:avLst/>
          </a:prstGeom>
          <a:solidFill>
            <a:srgbClr val="0E9AA7"/>
          </a:solidFill>
          <a:ln w="12700">
            <a:solidFill>
              <a:srgbClr val="0E9AA7"/>
            </a:solidFill>
            <a:prstDash val="solid"/>
          </a:ln>
        </p:spPr>
      </p:sp>
      <p:sp>
        <p:nvSpPr>
          <p:cNvPr id="12" name="Text 10"/>
          <p:cNvSpPr/>
          <p:nvPr/>
        </p:nvSpPr>
        <p:spPr>
          <a:xfrm>
            <a:off x="2011680" y="15453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2468880" y="150876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Data Cleaning</a:t>
            </a:r>
            <a:endParaRPr lang="en-US" sz="1300" dirty="0"/>
          </a:p>
        </p:txBody>
      </p:sp>
      <p:sp>
        <p:nvSpPr>
          <p:cNvPr id="14" name="Shape 12"/>
          <p:cNvSpPr/>
          <p:nvPr/>
        </p:nvSpPr>
        <p:spPr>
          <a:xfrm>
            <a:off x="4553712" y="1572768"/>
            <a:ext cx="0" cy="292608"/>
          </a:xfrm>
          <a:prstGeom prst="line">
            <a:avLst/>
          </a:prstGeom>
          <a:noFill/>
          <a:ln w="12700">
            <a:solidFill>
              <a:srgbClr val="1DC9D8"/>
            </a:solidFill>
            <a:prstDash val="solid"/>
          </a:ln>
        </p:spPr>
      </p:sp>
      <p:sp>
        <p:nvSpPr>
          <p:cNvPr id="15" name="Text 13"/>
          <p:cNvSpPr/>
          <p:nvPr/>
        </p:nvSpPr>
        <p:spPr>
          <a:xfrm>
            <a:off x="4709160" y="1508760"/>
            <a:ext cx="2423160" cy="420624"/>
          </a:xfrm>
          <a:prstGeom prst="rect">
            <a:avLst/>
          </a:prstGeom>
          <a:noFill/>
          <a:ln/>
        </p:spPr>
        <p:txBody>
          <a:bodyPr wrap="square" lIns="0" tIns="0" rIns="0" bIns="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Handle missing values, remove duplicates &amp; noise</a:t>
            </a:r>
            <a:endParaRPr lang="en-US" sz="1150" dirty="0"/>
          </a:p>
        </p:txBody>
      </p:sp>
      <p:sp>
        <p:nvSpPr>
          <p:cNvPr id="16" name="Shape 14"/>
          <p:cNvSpPr/>
          <p:nvPr/>
        </p:nvSpPr>
        <p:spPr>
          <a:xfrm>
            <a:off x="4572000" y="1956816"/>
            <a:ext cx="0" cy="164592"/>
          </a:xfrm>
          <a:prstGeom prst="line">
            <a:avLst/>
          </a:prstGeom>
          <a:noFill/>
          <a:ln w="25400">
            <a:solidFill>
              <a:srgbClr val="1DC9D8"/>
            </a:solidFill>
            <a:prstDash val="solid"/>
          </a:ln>
        </p:spPr>
      </p:sp>
      <p:sp>
        <p:nvSpPr>
          <p:cNvPr id="17" name="Shape 15"/>
          <p:cNvSpPr/>
          <p:nvPr/>
        </p:nvSpPr>
        <p:spPr>
          <a:xfrm>
            <a:off x="1920240" y="2121408"/>
            <a:ext cx="5303520" cy="475488"/>
          </a:xfrm>
          <a:prstGeom prst="roundRect">
            <a:avLst>
              <a:gd name="adj" fmla="val 1923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8" name="Shape 16"/>
          <p:cNvSpPr/>
          <p:nvPr/>
        </p:nvSpPr>
        <p:spPr>
          <a:xfrm>
            <a:off x="2011680" y="2185416"/>
            <a:ext cx="347472" cy="347472"/>
          </a:xfrm>
          <a:prstGeom prst="ellipse">
            <a:avLst/>
          </a:prstGeom>
          <a:solidFill>
            <a:srgbClr val="0E9AA7"/>
          </a:solidFill>
          <a:ln w="12700">
            <a:solidFill>
              <a:srgbClr val="0E9AA7"/>
            </a:solidFill>
            <a:prstDash val="solid"/>
          </a:ln>
        </p:spPr>
      </p:sp>
      <p:sp>
        <p:nvSpPr>
          <p:cNvPr id="19" name="Text 17"/>
          <p:cNvSpPr/>
          <p:nvPr/>
        </p:nvSpPr>
        <p:spPr>
          <a:xfrm>
            <a:off x="2011680" y="21854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2468880" y="214884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Feature Engineering</a:t>
            </a:r>
            <a:endParaRPr lang="en-US" sz="1300" dirty="0"/>
          </a:p>
        </p:txBody>
      </p:sp>
      <p:sp>
        <p:nvSpPr>
          <p:cNvPr id="21" name="Shape 19"/>
          <p:cNvSpPr/>
          <p:nvPr/>
        </p:nvSpPr>
        <p:spPr>
          <a:xfrm>
            <a:off x="4553712" y="2212848"/>
            <a:ext cx="0" cy="292608"/>
          </a:xfrm>
          <a:prstGeom prst="line">
            <a:avLst/>
          </a:prstGeom>
          <a:noFill/>
          <a:ln w="12700">
            <a:solidFill>
              <a:srgbClr val="1DC9D8"/>
            </a:solidFill>
            <a:prstDash val="solid"/>
          </a:ln>
        </p:spPr>
      </p:sp>
      <p:sp>
        <p:nvSpPr>
          <p:cNvPr id="22" name="Text 20"/>
          <p:cNvSpPr/>
          <p:nvPr/>
        </p:nvSpPr>
        <p:spPr>
          <a:xfrm>
            <a:off x="4709160" y="2148840"/>
            <a:ext cx="2423160" cy="420624"/>
          </a:xfrm>
          <a:prstGeom prst="rect">
            <a:avLst/>
          </a:prstGeom>
          <a:noFill/>
          <a:ln/>
        </p:spPr>
        <p:txBody>
          <a:bodyPr wrap="square" lIns="0" tIns="0" rIns="0" bIns="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Encode, scale and select relevant features</a:t>
            </a:r>
            <a:endParaRPr lang="en-US" sz="1150" dirty="0"/>
          </a:p>
        </p:txBody>
      </p:sp>
      <p:sp>
        <p:nvSpPr>
          <p:cNvPr id="23" name="Shape 21"/>
          <p:cNvSpPr/>
          <p:nvPr/>
        </p:nvSpPr>
        <p:spPr>
          <a:xfrm>
            <a:off x="4572000" y="2596896"/>
            <a:ext cx="0" cy="164592"/>
          </a:xfrm>
          <a:prstGeom prst="line">
            <a:avLst/>
          </a:prstGeom>
          <a:noFill/>
          <a:ln w="25400">
            <a:solidFill>
              <a:srgbClr val="1DC9D8"/>
            </a:solidFill>
            <a:prstDash val="solid"/>
          </a:ln>
        </p:spPr>
      </p:sp>
      <p:sp>
        <p:nvSpPr>
          <p:cNvPr id="24" name="Shape 22"/>
          <p:cNvSpPr/>
          <p:nvPr/>
        </p:nvSpPr>
        <p:spPr>
          <a:xfrm>
            <a:off x="1920240" y="2761488"/>
            <a:ext cx="5303520" cy="475488"/>
          </a:xfrm>
          <a:prstGeom prst="roundRect">
            <a:avLst>
              <a:gd name="adj" fmla="val 1923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25" name="Shape 23"/>
          <p:cNvSpPr/>
          <p:nvPr/>
        </p:nvSpPr>
        <p:spPr>
          <a:xfrm>
            <a:off x="2011680" y="2825496"/>
            <a:ext cx="347472" cy="347472"/>
          </a:xfrm>
          <a:prstGeom prst="ellipse">
            <a:avLst/>
          </a:prstGeom>
          <a:solidFill>
            <a:srgbClr val="0E9AA7"/>
          </a:solidFill>
          <a:ln w="12700">
            <a:solidFill>
              <a:srgbClr val="0E9AA7"/>
            </a:solidFill>
            <a:prstDash val="solid"/>
          </a:ln>
        </p:spPr>
      </p:sp>
      <p:sp>
        <p:nvSpPr>
          <p:cNvPr id="26" name="Text 24"/>
          <p:cNvSpPr/>
          <p:nvPr/>
        </p:nvSpPr>
        <p:spPr>
          <a:xfrm>
            <a:off x="2011680" y="282549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2468880" y="278892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Model Training</a:t>
            </a:r>
            <a:endParaRPr lang="en-US" sz="1300" dirty="0"/>
          </a:p>
        </p:txBody>
      </p:sp>
      <p:sp>
        <p:nvSpPr>
          <p:cNvPr id="28" name="Shape 26"/>
          <p:cNvSpPr/>
          <p:nvPr/>
        </p:nvSpPr>
        <p:spPr>
          <a:xfrm>
            <a:off x="4553712" y="2852928"/>
            <a:ext cx="0" cy="292608"/>
          </a:xfrm>
          <a:prstGeom prst="line">
            <a:avLst/>
          </a:prstGeom>
          <a:noFill/>
          <a:ln w="12700">
            <a:solidFill>
              <a:srgbClr val="1DC9D8"/>
            </a:solidFill>
            <a:prstDash val="solid"/>
          </a:ln>
        </p:spPr>
      </p:sp>
      <p:sp>
        <p:nvSpPr>
          <p:cNvPr id="29" name="Text 27"/>
          <p:cNvSpPr/>
          <p:nvPr/>
        </p:nvSpPr>
        <p:spPr>
          <a:xfrm>
            <a:off x="4709160" y="2788920"/>
            <a:ext cx="2423160" cy="420624"/>
          </a:xfrm>
          <a:prstGeom prst="rect">
            <a:avLst/>
          </a:prstGeom>
          <a:noFill/>
          <a:ln/>
        </p:spPr>
        <p:txBody>
          <a:bodyPr wrap="square" lIns="0" tIns="0" rIns="0" bIns="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Train ML models: Logistic Regression, Random Forest</a:t>
            </a:r>
            <a:endParaRPr lang="en-US" sz="1150" dirty="0"/>
          </a:p>
        </p:txBody>
      </p:sp>
      <p:sp>
        <p:nvSpPr>
          <p:cNvPr id="30" name="Shape 28"/>
          <p:cNvSpPr/>
          <p:nvPr/>
        </p:nvSpPr>
        <p:spPr>
          <a:xfrm>
            <a:off x="4572000" y="3236976"/>
            <a:ext cx="0" cy="164592"/>
          </a:xfrm>
          <a:prstGeom prst="line">
            <a:avLst/>
          </a:prstGeom>
          <a:noFill/>
          <a:ln w="25400">
            <a:solidFill>
              <a:srgbClr val="1DC9D8"/>
            </a:solidFill>
            <a:prstDash val="solid"/>
          </a:ln>
        </p:spPr>
      </p:sp>
      <p:sp>
        <p:nvSpPr>
          <p:cNvPr id="31" name="Shape 29"/>
          <p:cNvSpPr/>
          <p:nvPr/>
        </p:nvSpPr>
        <p:spPr>
          <a:xfrm>
            <a:off x="1920240" y="3401568"/>
            <a:ext cx="5303520" cy="475488"/>
          </a:xfrm>
          <a:prstGeom prst="roundRect">
            <a:avLst>
              <a:gd name="adj" fmla="val 1923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32" name="Shape 30"/>
          <p:cNvSpPr/>
          <p:nvPr/>
        </p:nvSpPr>
        <p:spPr>
          <a:xfrm>
            <a:off x="2011680" y="3465576"/>
            <a:ext cx="347472" cy="347472"/>
          </a:xfrm>
          <a:prstGeom prst="ellipse">
            <a:avLst/>
          </a:prstGeom>
          <a:solidFill>
            <a:srgbClr val="0E9AA7"/>
          </a:solidFill>
          <a:ln w="12700">
            <a:solidFill>
              <a:srgbClr val="0E9AA7"/>
            </a:solidFill>
            <a:prstDash val="solid"/>
          </a:ln>
        </p:spPr>
      </p:sp>
      <p:sp>
        <p:nvSpPr>
          <p:cNvPr id="33" name="Text 31"/>
          <p:cNvSpPr/>
          <p:nvPr/>
        </p:nvSpPr>
        <p:spPr>
          <a:xfrm>
            <a:off x="2011680" y="346557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4" name="Text 32"/>
          <p:cNvSpPr/>
          <p:nvPr/>
        </p:nvSpPr>
        <p:spPr>
          <a:xfrm>
            <a:off x="2468880" y="342900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Model Evaluation</a:t>
            </a:r>
            <a:endParaRPr lang="en-US" sz="1300" dirty="0"/>
          </a:p>
        </p:txBody>
      </p:sp>
      <p:sp>
        <p:nvSpPr>
          <p:cNvPr id="35" name="Shape 33"/>
          <p:cNvSpPr/>
          <p:nvPr/>
        </p:nvSpPr>
        <p:spPr>
          <a:xfrm>
            <a:off x="4553712" y="3493008"/>
            <a:ext cx="0" cy="292608"/>
          </a:xfrm>
          <a:prstGeom prst="line">
            <a:avLst/>
          </a:prstGeom>
          <a:noFill/>
          <a:ln w="12700">
            <a:solidFill>
              <a:srgbClr val="1DC9D8"/>
            </a:solidFill>
            <a:prstDash val="solid"/>
          </a:ln>
        </p:spPr>
      </p:sp>
      <p:sp>
        <p:nvSpPr>
          <p:cNvPr id="36" name="Text 34"/>
          <p:cNvSpPr/>
          <p:nvPr/>
        </p:nvSpPr>
        <p:spPr>
          <a:xfrm>
            <a:off x="4709160" y="3429000"/>
            <a:ext cx="2423160" cy="420624"/>
          </a:xfrm>
          <a:prstGeom prst="rect">
            <a:avLst/>
          </a:prstGeom>
          <a:noFill/>
          <a:ln/>
        </p:spPr>
        <p:txBody>
          <a:bodyPr wrap="square" lIns="0" tIns="0" rIns="0" bIns="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Assess accuracy, precision, recall &amp; ROC-AUC</a:t>
            </a:r>
            <a:endParaRPr lang="en-US" sz="1150" dirty="0"/>
          </a:p>
        </p:txBody>
      </p:sp>
      <p:sp>
        <p:nvSpPr>
          <p:cNvPr id="37" name="Shape 35"/>
          <p:cNvSpPr/>
          <p:nvPr/>
        </p:nvSpPr>
        <p:spPr>
          <a:xfrm>
            <a:off x="4572000" y="3877056"/>
            <a:ext cx="0" cy="164592"/>
          </a:xfrm>
          <a:prstGeom prst="line">
            <a:avLst/>
          </a:prstGeom>
          <a:noFill/>
          <a:ln w="25400">
            <a:solidFill>
              <a:srgbClr val="1DC9D8"/>
            </a:solidFill>
            <a:prstDash val="solid"/>
          </a:ln>
        </p:spPr>
      </p:sp>
      <p:sp>
        <p:nvSpPr>
          <p:cNvPr id="38" name="Shape 36"/>
          <p:cNvSpPr/>
          <p:nvPr/>
        </p:nvSpPr>
        <p:spPr>
          <a:xfrm>
            <a:off x="1920240" y="4041648"/>
            <a:ext cx="5303520" cy="475488"/>
          </a:xfrm>
          <a:prstGeom prst="roundRect">
            <a:avLst>
              <a:gd name="adj" fmla="val 1923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39" name="Shape 37"/>
          <p:cNvSpPr/>
          <p:nvPr/>
        </p:nvSpPr>
        <p:spPr>
          <a:xfrm>
            <a:off x="2011680" y="4105656"/>
            <a:ext cx="347472" cy="347472"/>
          </a:xfrm>
          <a:prstGeom prst="ellipse">
            <a:avLst/>
          </a:prstGeom>
          <a:solidFill>
            <a:srgbClr val="0E9AA7"/>
          </a:solidFill>
          <a:ln w="12700">
            <a:solidFill>
              <a:srgbClr val="0E9AA7"/>
            </a:solidFill>
            <a:prstDash val="solid"/>
          </a:ln>
        </p:spPr>
      </p:sp>
      <p:sp>
        <p:nvSpPr>
          <p:cNvPr id="40" name="Text 38"/>
          <p:cNvSpPr/>
          <p:nvPr/>
        </p:nvSpPr>
        <p:spPr>
          <a:xfrm>
            <a:off x="2011680" y="410565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1" name="Text 39"/>
          <p:cNvSpPr/>
          <p:nvPr/>
        </p:nvSpPr>
        <p:spPr>
          <a:xfrm>
            <a:off x="2468880" y="406908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Churn Prediction</a:t>
            </a:r>
            <a:endParaRPr lang="en-US" sz="1300" dirty="0"/>
          </a:p>
        </p:txBody>
      </p:sp>
      <p:sp>
        <p:nvSpPr>
          <p:cNvPr id="42" name="Shape 40"/>
          <p:cNvSpPr/>
          <p:nvPr/>
        </p:nvSpPr>
        <p:spPr>
          <a:xfrm>
            <a:off x="4553712" y="4133088"/>
            <a:ext cx="0" cy="292608"/>
          </a:xfrm>
          <a:prstGeom prst="line">
            <a:avLst/>
          </a:prstGeom>
          <a:noFill/>
          <a:ln w="12700">
            <a:solidFill>
              <a:srgbClr val="1DC9D8"/>
            </a:solidFill>
            <a:prstDash val="solid"/>
          </a:ln>
        </p:spPr>
      </p:sp>
      <p:sp>
        <p:nvSpPr>
          <p:cNvPr id="43" name="Text 41"/>
          <p:cNvSpPr/>
          <p:nvPr/>
        </p:nvSpPr>
        <p:spPr>
          <a:xfrm>
            <a:off x="4709160" y="4069080"/>
            <a:ext cx="2423160" cy="420624"/>
          </a:xfrm>
          <a:prstGeom prst="rect">
            <a:avLst/>
          </a:prstGeom>
          <a:noFill/>
          <a:ln/>
        </p:spPr>
        <p:txBody>
          <a:bodyPr wrap="square" lIns="0" tIns="0" rIns="0" bIns="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Score each customer's churn probability</a:t>
            </a:r>
            <a:endParaRPr lang="en-US" sz="1150" dirty="0"/>
          </a:p>
        </p:txBody>
      </p:sp>
      <p:sp>
        <p:nvSpPr>
          <p:cNvPr id="44" name="Shape 42"/>
          <p:cNvSpPr/>
          <p:nvPr/>
        </p:nvSpPr>
        <p:spPr>
          <a:xfrm>
            <a:off x="4572000" y="4517136"/>
            <a:ext cx="0" cy="164592"/>
          </a:xfrm>
          <a:prstGeom prst="line">
            <a:avLst/>
          </a:prstGeom>
          <a:noFill/>
          <a:ln w="25400">
            <a:solidFill>
              <a:srgbClr val="1DC9D8"/>
            </a:solidFill>
            <a:prstDash val="solid"/>
          </a:ln>
        </p:spPr>
      </p:sp>
      <p:sp>
        <p:nvSpPr>
          <p:cNvPr id="45" name="Shape 43"/>
          <p:cNvSpPr/>
          <p:nvPr/>
        </p:nvSpPr>
        <p:spPr>
          <a:xfrm>
            <a:off x="1920240" y="4681728"/>
            <a:ext cx="5303520" cy="475488"/>
          </a:xfrm>
          <a:prstGeom prst="roundRect">
            <a:avLst>
              <a:gd name="adj" fmla="val 19231"/>
            </a:avLst>
          </a:prstGeom>
          <a:solidFill>
            <a:srgbClr val="0E9AA7"/>
          </a:solidFill>
          <a:ln w="12700">
            <a:solidFill>
              <a:srgbClr val="1DC9D8"/>
            </a:solidFill>
            <a:prstDash val="solid"/>
          </a:ln>
          <a:effectLst>
            <a:outerShdw sx="100000" sy="100000" kx="0" ky="0" algn="bl" rotWithShape="0" blurRad="101600" dist="38100" dir="2700000">
              <a:srgbClr val="000000">
                <a:alpha val="18000"/>
              </a:srgbClr>
            </a:outerShdw>
          </a:effectLst>
        </p:spPr>
      </p:sp>
      <p:sp>
        <p:nvSpPr>
          <p:cNvPr id="46" name="Shape 44"/>
          <p:cNvSpPr/>
          <p:nvPr/>
        </p:nvSpPr>
        <p:spPr>
          <a:xfrm>
            <a:off x="2011680" y="4745736"/>
            <a:ext cx="347472" cy="347472"/>
          </a:xfrm>
          <a:prstGeom prst="ellipse">
            <a:avLst/>
          </a:prstGeom>
          <a:solidFill>
            <a:srgbClr val="0D1B2A"/>
          </a:solidFill>
          <a:ln w="12700">
            <a:solidFill>
              <a:srgbClr val="0D1B2A"/>
            </a:solidFill>
            <a:prstDash val="solid"/>
          </a:ln>
        </p:spPr>
      </p:sp>
      <p:sp>
        <p:nvSpPr>
          <p:cNvPr id="47" name="Text 45"/>
          <p:cNvSpPr/>
          <p:nvPr/>
        </p:nvSpPr>
        <p:spPr>
          <a:xfrm>
            <a:off x="2011680" y="47457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8" name="Text 46"/>
          <p:cNvSpPr/>
          <p:nvPr/>
        </p:nvSpPr>
        <p:spPr>
          <a:xfrm>
            <a:off x="2468880" y="4709160"/>
            <a:ext cx="2011680" cy="42062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Business Decision Support</a:t>
            </a:r>
            <a:endParaRPr lang="en-US" sz="1300" dirty="0"/>
          </a:p>
        </p:txBody>
      </p:sp>
      <p:sp>
        <p:nvSpPr>
          <p:cNvPr id="49" name="Shape 47"/>
          <p:cNvSpPr/>
          <p:nvPr/>
        </p:nvSpPr>
        <p:spPr>
          <a:xfrm>
            <a:off x="4553712" y="4773168"/>
            <a:ext cx="0" cy="292608"/>
          </a:xfrm>
          <a:prstGeom prst="line">
            <a:avLst/>
          </a:prstGeom>
          <a:noFill/>
          <a:ln w="12700">
            <a:solidFill>
              <a:srgbClr val="0D1B2A"/>
            </a:solidFill>
            <a:prstDash val="solid"/>
          </a:ln>
        </p:spPr>
      </p:sp>
      <p:sp>
        <p:nvSpPr>
          <p:cNvPr id="50" name="Text 48"/>
          <p:cNvSpPr/>
          <p:nvPr/>
        </p:nvSpPr>
        <p:spPr>
          <a:xfrm>
            <a:off x="4709160" y="4709160"/>
            <a:ext cx="2423160" cy="420624"/>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Actionable retention strategies for at-risk customers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274320" y="45720"/>
            <a:ext cx="859536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Key Features &amp; Benefits</a:t>
            </a:r>
            <a:endParaRPr lang="en-US" sz="2600" dirty="0"/>
          </a:p>
        </p:txBody>
      </p:sp>
      <p:sp>
        <p:nvSpPr>
          <p:cNvPr id="4" name="Text 2"/>
          <p:cNvSpPr/>
          <p:nvPr/>
        </p:nvSpPr>
        <p:spPr>
          <a:xfrm>
            <a:off x="274320" y="960120"/>
            <a:ext cx="5394960" cy="411480"/>
          </a:xfrm>
          <a:prstGeom prst="rect">
            <a:avLst/>
          </a:prstGeom>
          <a:noFill/>
          <a:ln/>
        </p:spPr>
        <p:txBody>
          <a:bodyPr wrap="square" lIns="0" tIns="0" rIns="0" bIns="0" rtlCol="0" anchor="ctr"/>
          <a:lstStyle/>
          <a:p>
            <a:pPr indent="0" marL="0">
              <a:buNone/>
            </a:pPr>
            <a:r>
              <a:rPr lang="en-US" sz="1600" b="1" dirty="0">
                <a:solidFill>
                  <a:srgbClr val="0D1B2A"/>
                </a:solidFill>
                <a:latin typeface="Cambria" pitchFamily="34" charset="0"/>
                <a:ea typeface="Cambria" pitchFamily="34" charset="-122"/>
                <a:cs typeface="Cambria" pitchFamily="34" charset="-120"/>
              </a:rPr>
              <a:t>Features</a:t>
            </a:r>
            <a:endParaRPr lang="en-US" sz="1600" dirty="0"/>
          </a:p>
        </p:txBody>
      </p:sp>
      <p:sp>
        <p:nvSpPr>
          <p:cNvPr id="5" name="Shape 3"/>
          <p:cNvSpPr/>
          <p:nvPr/>
        </p:nvSpPr>
        <p:spPr>
          <a:xfrm>
            <a:off x="274320" y="1417320"/>
            <a:ext cx="2514600" cy="822960"/>
          </a:xfrm>
          <a:prstGeom prst="roundRect">
            <a:avLst>
              <a:gd name="adj" fmla="val 1111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6" name="Shape 4"/>
          <p:cNvSpPr/>
          <p:nvPr/>
        </p:nvSpPr>
        <p:spPr>
          <a:xfrm>
            <a:off x="365760" y="1645920"/>
            <a:ext cx="320040" cy="320040"/>
          </a:xfrm>
          <a:prstGeom prst="ellipse">
            <a:avLst/>
          </a:prstGeom>
          <a:solidFill>
            <a:srgbClr val="0E9AA7"/>
          </a:solidFill>
          <a:ln w="12700">
            <a:solidFill>
              <a:srgbClr val="0E9AA7"/>
            </a:solidFill>
            <a:prstDash val="solid"/>
          </a:ln>
        </p:spPr>
      </p:sp>
      <p:sp>
        <p:nvSpPr>
          <p:cNvPr id="7" name="Text 5"/>
          <p:cNvSpPr/>
          <p:nvPr/>
        </p:nvSpPr>
        <p:spPr>
          <a:xfrm>
            <a:off x="777240" y="1490472"/>
            <a:ext cx="1920240" cy="685800"/>
          </a:xfrm>
          <a:prstGeom prst="rect">
            <a:avLst/>
          </a:prstGeom>
          <a:noFill/>
          <a:ln/>
        </p:spPr>
        <p:txBody>
          <a:bodyPr wrap="square" lIns="50800" tIns="50800" rIns="50800" bIns="50800" rtlCol="0" anchor="ctr"/>
          <a:lstStyle/>
          <a:p>
            <a:pPr indent="0" marL="0">
              <a:buNone/>
            </a:pPr>
            <a:r>
              <a:rPr lang="en-US" sz="1150" dirty="0">
                <a:solidFill>
                  <a:srgbClr val="1B2E45"/>
                </a:solidFill>
                <a:latin typeface="Calibri" pitchFamily="34" charset="0"/>
                <a:ea typeface="Calibri" pitchFamily="34" charset="-122"/>
                <a:cs typeface="Calibri" pitchFamily="34" charset="-120"/>
              </a:rPr>
              <a:t>Customer behavior analysis</a:t>
            </a:r>
            <a:endParaRPr lang="en-US" sz="1150" dirty="0"/>
          </a:p>
        </p:txBody>
      </p:sp>
      <p:sp>
        <p:nvSpPr>
          <p:cNvPr id="8" name="Shape 6"/>
          <p:cNvSpPr/>
          <p:nvPr/>
        </p:nvSpPr>
        <p:spPr>
          <a:xfrm>
            <a:off x="2971800" y="1417320"/>
            <a:ext cx="2514600" cy="822960"/>
          </a:xfrm>
          <a:prstGeom prst="roundRect">
            <a:avLst>
              <a:gd name="adj" fmla="val 1111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9" name="Shape 7"/>
          <p:cNvSpPr/>
          <p:nvPr/>
        </p:nvSpPr>
        <p:spPr>
          <a:xfrm>
            <a:off x="3063240" y="1645920"/>
            <a:ext cx="320040" cy="320040"/>
          </a:xfrm>
          <a:prstGeom prst="ellipse">
            <a:avLst/>
          </a:prstGeom>
          <a:solidFill>
            <a:srgbClr val="0E9AA7"/>
          </a:solidFill>
          <a:ln w="12700">
            <a:solidFill>
              <a:srgbClr val="0E9AA7"/>
            </a:solidFill>
            <a:prstDash val="solid"/>
          </a:ln>
        </p:spPr>
      </p:sp>
      <p:sp>
        <p:nvSpPr>
          <p:cNvPr id="10" name="Text 8"/>
          <p:cNvSpPr/>
          <p:nvPr/>
        </p:nvSpPr>
        <p:spPr>
          <a:xfrm>
            <a:off x="3474720" y="1490472"/>
            <a:ext cx="1920240" cy="685800"/>
          </a:xfrm>
          <a:prstGeom prst="rect">
            <a:avLst/>
          </a:prstGeom>
          <a:noFill/>
          <a:ln/>
        </p:spPr>
        <p:txBody>
          <a:bodyPr wrap="square" lIns="50800" tIns="50800" rIns="50800" bIns="50800" rtlCol="0" anchor="ctr"/>
          <a:lstStyle/>
          <a:p>
            <a:pPr indent="0" marL="0">
              <a:buNone/>
            </a:pPr>
            <a:r>
              <a:rPr lang="en-US" sz="1150" dirty="0">
                <a:solidFill>
                  <a:srgbClr val="1B2E45"/>
                </a:solidFill>
                <a:latin typeface="Calibri" pitchFamily="34" charset="0"/>
                <a:ea typeface="Calibri" pitchFamily="34" charset="-122"/>
                <a:cs typeface="Calibri" pitchFamily="34" charset="-120"/>
              </a:rPr>
              <a:t>Data preprocessing pipeline</a:t>
            </a:r>
            <a:endParaRPr lang="en-US" sz="1150" dirty="0"/>
          </a:p>
        </p:txBody>
      </p:sp>
      <p:sp>
        <p:nvSpPr>
          <p:cNvPr id="11" name="Shape 9"/>
          <p:cNvSpPr/>
          <p:nvPr/>
        </p:nvSpPr>
        <p:spPr>
          <a:xfrm>
            <a:off x="274320" y="2423160"/>
            <a:ext cx="2514600" cy="822960"/>
          </a:xfrm>
          <a:prstGeom prst="roundRect">
            <a:avLst>
              <a:gd name="adj" fmla="val 1111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2" name="Shape 10"/>
          <p:cNvSpPr/>
          <p:nvPr/>
        </p:nvSpPr>
        <p:spPr>
          <a:xfrm>
            <a:off x="365760" y="2651760"/>
            <a:ext cx="320040" cy="320040"/>
          </a:xfrm>
          <a:prstGeom prst="ellipse">
            <a:avLst/>
          </a:prstGeom>
          <a:solidFill>
            <a:srgbClr val="0E9AA7"/>
          </a:solidFill>
          <a:ln w="12700">
            <a:solidFill>
              <a:srgbClr val="0E9AA7"/>
            </a:solidFill>
            <a:prstDash val="solid"/>
          </a:ln>
        </p:spPr>
      </p:sp>
      <p:sp>
        <p:nvSpPr>
          <p:cNvPr id="13" name="Text 11"/>
          <p:cNvSpPr/>
          <p:nvPr/>
        </p:nvSpPr>
        <p:spPr>
          <a:xfrm>
            <a:off x="777240" y="2496312"/>
            <a:ext cx="1920240" cy="685800"/>
          </a:xfrm>
          <a:prstGeom prst="rect">
            <a:avLst/>
          </a:prstGeom>
          <a:noFill/>
          <a:ln/>
        </p:spPr>
        <p:txBody>
          <a:bodyPr wrap="square" lIns="50800" tIns="50800" rIns="50800" bIns="50800" rtlCol="0" anchor="ctr"/>
          <a:lstStyle/>
          <a:p>
            <a:pPr indent="0" marL="0">
              <a:buNone/>
            </a:pPr>
            <a:r>
              <a:rPr lang="en-US" sz="1150" dirty="0">
                <a:solidFill>
                  <a:srgbClr val="1B2E45"/>
                </a:solidFill>
                <a:latin typeface="Calibri" pitchFamily="34" charset="0"/>
                <a:ea typeface="Calibri" pitchFamily="34" charset="-122"/>
                <a:cs typeface="Calibri" pitchFamily="34" charset="-120"/>
              </a:rPr>
              <a:t>Feature selection</a:t>
            </a:r>
            <a:endParaRPr lang="en-US" sz="1150" dirty="0"/>
          </a:p>
        </p:txBody>
      </p:sp>
      <p:sp>
        <p:nvSpPr>
          <p:cNvPr id="14" name="Shape 12"/>
          <p:cNvSpPr/>
          <p:nvPr/>
        </p:nvSpPr>
        <p:spPr>
          <a:xfrm>
            <a:off x="2971800" y="2423160"/>
            <a:ext cx="2514600" cy="822960"/>
          </a:xfrm>
          <a:prstGeom prst="roundRect">
            <a:avLst>
              <a:gd name="adj" fmla="val 1111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5" name="Shape 13"/>
          <p:cNvSpPr/>
          <p:nvPr/>
        </p:nvSpPr>
        <p:spPr>
          <a:xfrm>
            <a:off x="3063240" y="2651760"/>
            <a:ext cx="320040" cy="320040"/>
          </a:xfrm>
          <a:prstGeom prst="ellipse">
            <a:avLst/>
          </a:prstGeom>
          <a:solidFill>
            <a:srgbClr val="0E9AA7"/>
          </a:solidFill>
          <a:ln w="12700">
            <a:solidFill>
              <a:srgbClr val="0E9AA7"/>
            </a:solidFill>
            <a:prstDash val="solid"/>
          </a:ln>
        </p:spPr>
      </p:sp>
      <p:sp>
        <p:nvSpPr>
          <p:cNvPr id="16" name="Text 14"/>
          <p:cNvSpPr/>
          <p:nvPr/>
        </p:nvSpPr>
        <p:spPr>
          <a:xfrm>
            <a:off x="3474720" y="2496312"/>
            <a:ext cx="1920240" cy="685800"/>
          </a:xfrm>
          <a:prstGeom prst="rect">
            <a:avLst/>
          </a:prstGeom>
          <a:noFill/>
          <a:ln/>
        </p:spPr>
        <p:txBody>
          <a:bodyPr wrap="square" lIns="50800" tIns="50800" rIns="50800" bIns="50800" rtlCol="0" anchor="ctr"/>
          <a:lstStyle/>
          <a:p>
            <a:pPr indent="0" marL="0">
              <a:buNone/>
            </a:pPr>
            <a:r>
              <a:rPr lang="en-US" sz="1150" dirty="0">
                <a:solidFill>
                  <a:srgbClr val="1B2E45"/>
                </a:solidFill>
                <a:latin typeface="Calibri" pitchFamily="34" charset="0"/>
                <a:ea typeface="Calibri" pitchFamily="34" charset="-122"/>
                <a:cs typeface="Calibri" pitchFamily="34" charset="-120"/>
              </a:rPr>
              <a:t>ML classification models</a:t>
            </a:r>
            <a:endParaRPr lang="en-US" sz="1150" dirty="0"/>
          </a:p>
        </p:txBody>
      </p:sp>
      <p:sp>
        <p:nvSpPr>
          <p:cNvPr id="17" name="Shape 15"/>
          <p:cNvSpPr/>
          <p:nvPr/>
        </p:nvSpPr>
        <p:spPr>
          <a:xfrm>
            <a:off x="274320" y="3429000"/>
            <a:ext cx="2514600" cy="822960"/>
          </a:xfrm>
          <a:prstGeom prst="roundRect">
            <a:avLst>
              <a:gd name="adj" fmla="val 1111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8" name="Shape 16"/>
          <p:cNvSpPr/>
          <p:nvPr/>
        </p:nvSpPr>
        <p:spPr>
          <a:xfrm>
            <a:off x="365760" y="3657600"/>
            <a:ext cx="320040" cy="320040"/>
          </a:xfrm>
          <a:prstGeom prst="ellipse">
            <a:avLst/>
          </a:prstGeom>
          <a:solidFill>
            <a:srgbClr val="0E9AA7"/>
          </a:solidFill>
          <a:ln w="12700">
            <a:solidFill>
              <a:srgbClr val="0E9AA7"/>
            </a:solidFill>
            <a:prstDash val="solid"/>
          </a:ln>
        </p:spPr>
      </p:sp>
      <p:sp>
        <p:nvSpPr>
          <p:cNvPr id="19" name="Text 17"/>
          <p:cNvSpPr/>
          <p:nvPr/>
        </p:nvSpPr>
        <p:spPr>
          <a:xfrm>
            <a:off x="777240" y="3502152"/>
            <a:ext cx="1920240" cy="685800"/>
          </a:xfrm>
          <a:prstGeom prst="rect">
            <a:avLst/>
          </a:prstGeom>
          <a:noFill/>
          <a:ln/>
        </p:spPr>
        <p:txBody>
          <a:bodyPr wrap="square" lIns="50800" tIns="50800" rIns="50800" bIns="50800" rtlCol="0" anchor="ctr"/>
          <a:lstStyle/>
          <a:p>
            <a:pPr indent="0" marL="0">
              <a:buNone/>
            </a:pPr>
            <a:r>
              <a:rPr lang="en-US" sz="1150" dirty="0">
                <a:solidFill>
                  <a:srgbClr val="1B2E45"/>
                </a:solidFill>
                <a:latin typeface="Calibri" pitchFamily="34" charset="0"/>
                <a:ea typeface="Calibri" pitchFamily="34" charset="-122"/>
                <a:cs typeface="Calibri" pitchFamily="34" charset="-120"/>
              </a:rPr>
              <a:t>Churn probability scoring</a:t>
            </a:r>
            <a:endParaRPr lang="en-US" sz="1150" dirty="0"/>
          </a:p>
        </p:txBody>
      </p:sp>
      <p:sp>
        <p:nvSpPr>
          <p:cNvPr id="20" name="Shape 18"/>
          <p:cNvSpPr/>
          <p:nvPr/>
        </p:nvSpPr>
        <p:spPr>
          <a:xfrm>
            <a:off x="2971800" y="3429000"/>
            <a:ext cx="2514600" cy="822960"/>
          </a:xfrm>
          <a:prstGeom prst="roundRect">
            <a:avLst>
              <a:gd name="adj" fmla="val 11111"/>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21" name="Shape 19"/>
          <p:cNvSpPr/>
          <p:nvPr/>
        </p:nvSpPr>
        <p:spPr>
          <a:xfrm>
            <a:off x="3063240" y="3657600"/>
            <a:ext cx="320040" cy="320040"/>
          </a:xfrm>
          <a:prstGeom prst="ellipse">
            <a:avLst/>
          </a:prstGeom>
          <a:solidFill>
            <a:srgbClr val="0E9AA7"/>
          </a:solidFill>
          <a:ln w="12700">
            <a:solidFill>
              <a:srgbClr val="0E9AA7"/>
            </a:solidFill>
            <a:prstDash val="solid"/>
          </a:ln>
        </p:spPr>
      </p:sp>
      <p:sp>
        <p:nvSpPr>
          <p:cNvPr id="22" name="Text 20"/>
          <p:cNvSpPr/>
          <p:nvPr/>
        </p:nvSpPr>
        <p:spPr>
          <a:xfrm>
            <a:off x="3474720" y="3502152"/>
            <a:ext cx="1920240" cy="685800"/>
          </a:xfrm>
          <a:prstGeom prst="rect">
            <a:avLst/>
          </a:prstGeom>
          <a:noFill/>
          <a:ln/>
        </p:spPr>
        <p:txBody>
          <a:bodyPr wrap="square" lIns="50800" tIns="50800" rIns="50800" bIns="50800" rtlCol="0" anchor="ctr"/>
          <a:lstStyle/>
          <a:p>
            <a:pPr indent="0" marL="0">
              <a:buNone/>
            </a:pPr>
            <a:r>
              <a:rPr lang="en-US" sz="1150" dirty="0">
                <a:solidFill>
                  <a:srgbClr val="1B2E45"/>
                </a:solidFill>
                <a:latin typeface="Calibri" pitchFamily="34" charset="0"/>
                <a:ea typeface="Calibri" pitchFamily="34" charset="-122"/>
                <a:cs typeface="Calibri" pitchFamily="34" charset="-120"/>
              </a:rPr>
              <a:t>Accuracy metric evaluation</a:t>
            </a:r>
            <a:endParaRPr lang="en-US" sz="1150" dirty="0"/>
          </a:p>
        </p:txBody>
      </p:sp>
      <p:sp>
        <p:nvSpPr>
          <p:cNvPr id="23" name="Shape 21"/>
          <p:cNvSpPr/>
          <p:nvPr/>
        </p:nvSpPr>
        <p:spPr>
          <a:xfrm>
            <a:off x="5943600" y="960120"/>
            <a:ext cx="2926080" cy="3931920"/>
          </a:xfrm>
          <a:prstGeom prst="roundRect">
            <a:avLst>
              <a:gd name="adj" fmla="val 4375"/>
            </a:avLst>
          </a:prstGeom>
          <a:solidFill>
            <a:srgbClr val="0D1B2A"/>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24" name="Text 22"/>
          <p:cNvSpPr/>
          <p:nvPr/>
        </p:nvSpPr>
        <p:spPr>
          <a:xfrm>
            <a:off x="5943600" y="1024128"/>
            <a:ext cx="2926080" cy="457200"/>
          </a:xfrm>
          <a:prstGeom prst="rect">
            <a:avLst/>
          </a:prstGeom>
          <a:noFill/>
          <a:ln/>
        </p:spPr>
        <p:txBody>
          <a:bodyPr wrap="square" lIns="0" tIns="0" rIns="0" bIns="0" rtlCol="0" anchor="ctr"/>
          <a:lstStyle/>
          <a:p>
            <a:pPr algn="ctr" indent="0" marL="0">
              <a:buNone/>
            </a:pPr>
            <a:r>
              <a:rPr lang="en-US" sz="1600" b="1" dirty="0">
                <a:solidFill>
                  <a:srgbClr val="1DC9D8"/>
                </a:solidFill>
                <a:latin typeface="Cambria" pitchFamily="34" charset="0"/>
                <a:ea typeface="Cambria" pitchFamily="34" charset="-122"/>
                <a:cs typeface="Cambria" pitchFamily="34" charset="-120"/>
              </a:rPr>
              <a:t>Benefits</a:t>
            </a:r>
            <a:endParaRPr lang="en-US" sz="1600" dirty="0"/>
          </a:p>
        </p:txBody>
      </p:sp>
      <p:sp>
        <p:nvSpPr>
          <p:cNvPr id="25" name="Shape 23"/>
          <p:cNvSpPr/>
          <p:nvPr/>
        </p:nvSpPr>
        <p:spPr>
          <a:xfrm>
            <a:off x="6126480" y="1600200"/>
            <a:ext cx="2560320" cy="777240"/>
          </a:xfrm>
          <a:prstGeom prst="roundRect">
            <a:avLst>
              <a:gd name="adj" fmla="val 11765"/>
            </a:avLst>
          </a:prstGeom>
          <a:solidFill>
            <a:srgbClr val="1B2E45"/>
          </a:solidFill>
          <a:ln w="12700">
            <a:solidFill>
              <a:srgbClr val="1DC9D8"/>
            </a:solidFill>
            <a:prstDash val="solid"/>
          </a:ln>
        </p:spPr>
      </p:sp>
      <p:sp>
        <p:nvSpPr>
          <p:cNvPr id="26" name="Text 24"/>
          <p:cNvSpPr/>
          <p:nvPr/>
        </p:nvSpPr>
        <p:spPr>
          <a:xfrm>
            <a:off x="6217920" y="1645920"/>
            <a:ext cx="2377440" cy="685800"/>
          </a:xfrm>
          <a:prstGeom prst="rect">
            <a:avLst/>
          </a:prstGeom>
          <a:noFill/>
          <a:ln/>
        </p:spPr>
        <p:txBody>
          <a:bodyPr wrap="square" lIns="50800" tIns="50800" rIns="50800" bIns="5080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  Faster decision making</a:t>
            </a:r>
            <a:endParaRPr lang="en-US" sz="1250" dirty="0"/>
          </a:p>
        </p:txBody>
      </p:sp>
      <p:sp>
        <p:nvSpPr>
          <p:cNvPr id="27" name="Shape 25"/>
          <p:cNvSpPr/>
          <p:nvPr/>
        </p:nvSpPr>
        <p:spPr>
          <a:xfrm>
            <a:off x="6126480" y="2606040"/>
            <a:ext cx="2560320" cy="777240"/>
          </a:xfrm>
          <a:prstGeom prst="roundRect">
            <a:avLst>
              <a:gd name="adj" fmla="val 11765"/>
            </a:avLst>
          </a:prstGeom>
          <a:solidFill>
            <a:srgbClr val="1B2E45"/>
          </a:solidFill>
          <a:ln w="12700">
            <a:solidFill>
              <a:srgbClr val="1DC9D8"/>
            </a:solidFill>
            <a:prstDash val="solid"/>
          </a:ln>
        </p:spPr>
      </p:sp>
      <p:sp>
        <p:nvSpPr>
          <p:cNvPr id="28" name="Text 26"/>
          <p:cNvSpPr/>
          <p:nvPr/>
        </p:nvSpPr>
        <p:spPr>
          <a:xfrm>
            <a:off x="6217920" y="2651760"/>
            <a:ext cx="2377440" cy="685800"/>
          </a:xfrm>
          <a:prstGeom prst="rect">
            <a:avLst/>
          </a:prstGeom>
          <a:noFill/>
          <a:ln/>
        </p:spPr>
        <p:txBody>
          <a:bodyPr wrap="square" lIns="50800" tIns="50800" rIns="50800" bIns="5080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  Reduced customer loss</a:t>
            </a:r>
            <a:endParaRPr lang="en-US" sz="1250" dirty="0"/>
          </a:p>
        </p:txBody>
      </p:sp>
      <p:sp>
        <p:nvSpPr>
          <p:cNvPr id="29" name="Shape 27"/>
          <p:cNvSpPr/>
          <p:nvPr/>
        </p:nvSpPr>
        <p:spPr>
          <a:xfrm>
            <a:off x="6126480" y="3611880"/>
            <a:ext cx="2560320" cy="777240"/>
          </a:xfrm>
          <a:prstGeom prst="roundRect">
            <a:avLst>
              <a:gd name="adj" fmla="val 11765"/>
            </a:avLst>
          </a:prstGeom>
          <a:solidFill>
            <a:srgbClr val="1B2E45"/>
          </a:solidFill>
          <a:ln w="12700">
            <a:solidFill>
              <a:srgbClr val="1DC9D8"/>
            </a:solidFill>
            <a:prstDash val="solid"/>
          </a:ln>
        </p:spPr>
      </p:sp>
      <p:sp>
        <p:nvSpPr>
          <p:cNvPr id="30" name="Text 28"/>
          <p:cNvSpPr/>
          <p:nvPr/>
        </p:nvSpPr>
        <p:spPr>
          <a:xfrm>
            <a:off x="6217920" y="3657600"/>
            <a:ext cx="2377440" cy="685800"/>
          </a:xfrm>
          <a:prstGeom prst="rect">
            <a:avLst/>
          </a:prstGeom>
          <a:noFill/>
          <a:ln/>
        </p:spPr>
        <p:txBody>
          <a:bodyPr wrap="square" lIns="50800" tIns="50800" rIns="50800" bIns="5080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  Better marketing strategies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274320" y="45720"/>
            <a:ext cx="859536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Applications &amp; Impact</a:t>
            </a:r>
            <a:endParaRPr lang="en-US" sz="2600" dirty="0"/>
          </a:p>
        </p:txBody>
      </p:sp>
      <p:sp>
        <p:nvSpPr>
          <p:cNvPr id="4" name="Shape 2"/>
          <p:cNvSpPr/>
          <p:nvPr/>
        </p:nvSpPr>
        <p:spPr>
          <a:xfrm>
            <a:off x="274320" y="960120"/>
            <a:ext cx="2743200" cy="1737360"/>
          </a:xfrm>
          <a:prstGeom prst="roundRect">
            <a:avLst>
              <a:gd name="adj" fmla="val 6316"/>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411480" y="109728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1097280" y="1069848"/>
            <a:ext cx="1783080" cy="45720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Banking</a:t>
            </a:r>
            <a:endParaRPr lang="en-US" sz="1400" dirty="0"/>
          </a:p>
        </p:txBody>
      </p:sp>
      <p:sp>
        <p:nvSpPr>
          <p:cNvPr id="7" name="Text 5"/>
          <p:cNvSpPr/>
          <p:nvPr/>
        </p:nvSpPr>
        <p:spPr>
          <a:xfrm>
            <a:off x="411480" y="1691640"/>
            <a:ext cx="2468880" cy="86868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Identify customers likely to close accounts early.</a:t>
            </a:r>
            <a:endParaRPr lang="en-US" sz="1200" dirty="0"/>
          </a:p>
        </p:txBody>
      </p:sp>
      <p:sp>
        <p:nvSpPr>
          <p:cNvPr id="8" name="Shape 6"/>
          <p:cNvSpPr/>
          <p:nvPr/>
        </p:nvSpPr>
        <p:spPr>
          <a:xfrm>
            <a:off x="3200400" y="960120"/>
            <a:ext cx="2743200" cy="1737360"/>
          </a:xfrm>
          <a:prstGeom prst="roundRect">
            <a:avLst>
              <a:gd name="adj" fmla="val 6316"/>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3337560" y="109728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4023360" y="1069848"/>
            <a:ext cx="1783080" cy="45720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Telecom</a:t>
            </a:r>
            <a:endParaRPr lang="en-US" sz="1400" dirty="0"/>
          </a:p>
        </p:txBody>
      </p:sp>
      <p:sp>
        <p:nvSpPr>
          <p:cNvPr id="11" name="Text 9"/>
          <p:cNvSpPr/>
          <p:nvPr/>
        </p:nvSpPr>
        <p:spPr>
          <a:xfrm>
            <a:off x="3337560" y="1691640"/>
            <a:ext cx="2468880" cy="86868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Predict users switching to competitor providers.</a:t>
            </a:r>
            <a:endParaRPr lang="en-US" sz="1200" dirty="0"/>
          </a:p>
        </p:txBody>
      </p:sp>
      <p:sp>
        <p:nvSpPr>
          <p:cNvPr id="12" name="Shape 10"/>
          <p:cNvSpPr/>
          <p:nvPr/>
        </p:nvSpPr>
        <p:spPr>
          <a:xfrm>
            <a:off x="6126480" y="960120"/>
            <a:ext cx="2743200" cy="1737360"/>
          </a:xfrm>
          <a:prstGeom prst="roundRect">
            <a:avLst>
              <a:gd name="adj" fmla="val 6316"/>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6263640" y="109728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6949440" y="1069848"/>
            <a:ext cx="1783080" cy="45720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OTT Platforms</a:t>
            </a:r>
            <a:endParaRPr lang="en-US" sz="1400" dirty="0"/>
          </a:p>
        </p:txBody>
      </p:sp>
      <p:sp>
        <p:nvSpPr>
          <p:cNvPr id="15" name="Text 13"/>
          <p:cNvSpPr/>
          <p:nvPr/>
        </p:nvSpPr>
        <p:spPr>
          <a:xfrm>
            <a:off x="6263640" y="1691640"/>
            <a:ext cx="2468880" cy="86868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Reduce subscription cancellations proactively.</a:t>
            </a:r>
            <a:endParaRPr lang="en-US" sz="1200" dirty="0"/>
          </a:p>
        </p:txBody>
      </p:sp>
      <p:sp>
        <p:nvSpPr>
          <p:cNvPr id="16" name="Shape 14"/>
          <p:cNvSpPr/>
          <p:nvPr/>
        </p:nvSpPr>
        <p:spPr>
          <a:xfrm>
            <a:off x="274320" y="2971800"/>
            <a:ext cx="4114800" cy="1737360"/>
          </a:xfrm>
          <a:prstGeom prst="roundRect">
            <a:avLst>
              <a:gd name="adj" fmla="val 6316"/>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411480" y="310896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1097280" y="3081528"/>
            <a:ext cx="3154680" cy="45720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E-commerce</a:t>
            </a:r>
            <a:endParaRPr lang="en-US" sz="1400" dirty="0"/>
          </a:p>
        </p:txBody>
      </p:sp>
      <p:sp>
        <p:nvSpPr>
          <p:cNvPr id="19" name="Text 17"/>
          <p:cNvSpPr/>
          <p:nvPr/>
        </p:nvSpPr>
        <p:spPr>
          <a:xfrm>
            <a:off x="411480" y="3703320"/>
            <a:ext cx="3840480" cy="86868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Improve repeat customer engagement and loyalty.</a:t>
            </a:r>
            <a:endParaRPr lang="en-US" sz="1200" dirty="0"/>
          </a:p>
        </p:txBody>
      </p:sp>
      <p:sp>
        <p:nvSpPr>
          <p:cNvPr id="20" name="Shape 18"/>
          <p:cNvSpPr/>
          <p:nvPr/>
        </p:nvSpPr>
        <p:spPr>
          <a:xfrm>
            <a:off x="4709160" y="2971800"/>
            <a:ext cx="4114800" cy="1737360"/>
          </a:xfrm>
          <a:prstGeom prst="roundRect">
            <a:avLst>
              <a:gd name="adj" fmla="val 6316"/>
            </a:avLst>
          </a:prstGeom>
          <a:solidFill>
            <a:srgbClr val="FFFFFF"/>
          </a:solidFill>
          <a:ln w="12700">
            <a:solidFill>
              <a:srgbClr val="D4E1EE"/>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4846320" y="310896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5532120" y="3081528"/>
            <a:ext cx="3154680" cy="457200"/>
          </a:xfrm>
          <a:prstGeom prst="rect">
            <a:avLst/>
          </a:prstGeom>
          <a:noFill/>
          <a:ln/>
        </p:spPr>
        <p:txBody>
          <a:bodyPr wrap="square" lIns="0" tIns="0" rIns="0" bIns="0" rtlCol="0" anchor="ctr"/>
          <a:lstStyle/>
          <a:p>
            <a:pPr indent="0" marL="0">
              <a:buNone/>
            </a:pPr>
            <a:r>
              <a:rPr lang="en-US" sz="1400" b="1" dirty="0">
                <a:solidFill>
                  <a:srgbClr val="0D1B2A"/>
                </a:solidFill>
                <a:latin typeface="Cambria" pitchFamily="34" charset="0"/>
                <a:ea typeface="Cambria" pitchFamily="34" charset="-122"/>
                <a:cs typeface="Cambria" pitchFamily="34" charset="-120"/>
              </a:rPr>
              <a:t>Insurance</a:t>
            </a:r>
            <a:endParaRPr lang="en-US" sz="1400" dirty="0"/>
          </a:p>
        </p:txBody>
      </p:sp>
      <p:sp>
        <p:nvSpPr>
          <p:cNvPr id="23" name="Text 21"/>
          <p:cNvSpPr/>
          <p:nvPr/>
        </p:nvSpPr>
        <p:spPr>
          <a:xfrm>
            <a:off x="4846320" y="3703320"/>
            <a:ext cx="3840480" cy="868680"/>
          </a:xfrm>
          <a:prstGeom prst="rect">
            <a:avLst/>
          </a:prstGeom>
          <a:noFill/>
          <a:ln/>
        </p:spPr>
        <p:txBody>
          <a:bodyPr wrap="square" lIns="50800" tIns="50800" rIns="50800" bIns="50800" rtlCol="0" anchor="ctr"/>
          <a:lstStyle/>
          <a:p>
            <a:pPr indent="0" marL="0">
              <a:buNone/>
            </a:pPr>
            <a:r>
              <a:rPr lang="en-US" sz="1200" dirty="0">
                <a:solidFill>
                  <a:srgbClr val="7A8FA6"/>
                </a:solidFill>
                <a:latin typeface="Calibri" pitchFamily="34" charset="0"/>
                <a:ea typeface="Calibri" pitchFamily="34" charset="-122"/>
                <a:cs typeface="Calibri" pitchFamily="34" charset="-120"/>
              </a:rPr>
              <a:t>Increase policy renewals with targeted outreach.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274320" y="137160"/>
            <a:ext cx="859536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Future Scope</a:t>
            </a:r>
            <a:endParaRPr lang="en-US" sz="2800" dirty="0"/>
          </a:p>
        </p:txBody>
      </p:sp>
      <p:sp>
        <p:nvSpPr>
          <p:cNvPr id="3" name="Shape 1"/>
          <p:cNvSpPr/>
          <p:nvPr/>
        </p:nvSpPr>
        <p:spPr>
          <a:xfrm>
            <a:off x="274320" y="1005840"/>
            <a:ext cx="2697480" cy="1691640"/>
          </a:xfrm>
          <a:prstGeom prst="roundRect">
            <a:avLst>
              <a:gd name="adj" fmla="val 648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4" name="Text 2"/>
          <p:cNvSpPr/>
          <p:nvPr/>
        </p:nvSpPr>
        <p:spPr>
          <a:xfrm>
            <a:off x="384048" y="1097280"/>
            <a:ext cx="594360" cy="59436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5" name="Text 3"/>
          <p:cNvSpPr/>
          <p:nvPr/>
        </p:nvSpPr>
        <p:spPr>
          <a:xfrm>
            <a:off x="1024128" y="1097280"/>
            <a:ext cx="1828800" cy="594360"/>
          </a:xfrm>
          <a:prstGeom prst="rect">
            <a:avLst/>
          </a:prstGeom>
          <a:noFill/>
          <a:ln/>
        </p:spPr>
        <p:txBody>
          <a:bodyPr wrap="square" lIns="0" tIns="0" rIns="0" bIns="0" rtlCol="0" anchor="ctr"/>
          <a:lstStyle/>
          <a:p>
            <a:pPr indent="0" marL="0">
              <a:buNone/>
            </a:pPr>
            <a:r>
              <a:rPr lang="en-US" sz="1250" b="1" dirty="0">
                <a:solidFill>
                  <a:srgbClr val="1DC9D8"/>
                </a:solidFill>
                <a:latin typeface="Cambria" pitchFamily="34" charset="0"/>
                <a:ea typeface="Cambria" pitchFamily="34" charset="-122"/>
                <a:cs typeface="Cambria" pitchFamily="34" charset="-120"/>
              </a:rPr>
              <a:t>Deep Learning Integration</a:t>
            </a:r>
            <a:endParaRPr lang="en-US" sz="1250" dirty="0"/>
          </a:p>
        </p:txBody>
      </p:sp>
      <p:sp>
        <p:nvSpPr>
          <p:cNvPr id="6" name="Text 4"/>
          <p:cNvSpPr/>
          <p:nvPr/>
        </p:nvSpPr>
        <p:spPr>
          <a:xfrm>
            <a:off x="411480" y="1783080"/>
            <a:ext cx="2423160" cy="777240"/>
          </a:xfrm>
          <a:prstGeom prst="rect">
            <a:avLst/>
          </a:prstGeom>
          <a:noFill/>
          <a:ln/>
        </p:spPr>
        <p:txBody>
          <a:bodyPr wrap="square" lIns="50800" tIns="50800" rIns="50800" bIns="5080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LSTM &amp; neural nets for sequential behavior patterns.</a:t>
            </a:r>
            <a:endParaRPr lang="en-US" sz="1150" dirty="0"/>
          </a:p>
        </p:txBody>
      </p:sp>
      <p:sp>
        <p:nvSpPr>
          <p:cNvPr id="7" name="Shape 5"/>
          <p:cNvSpPr/>
          <p:nvPr/>
        </p:nvSpPr>
        <p:spPr>
          <a:xfrm>
            <a:off x="3200400" y="1005840"/>
            <a:ext cx="2697480" cy="1691640"/>
          </a:xfrm>
          <a:prstGeom prst="roundRect">
            <a:avLst>
              <a:gd name="adj" fmla="val 648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310128" y="1097280"/>
            <a:ext cx="594360" cy="59436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9" name="Text 7"/>
          <p:cNvSpPr/>
          <p:nvPr/>
        </p:nvSpPr>
        <p:spPr>
          <a:xfrm>
            <a:off x="3950208" y="1097280"/>
            <a:ext cx="1828800" cy="594360"/>
          </a:xfrm>
          <a:prstGeom prst="rect">
            <a:avLst/>
          </a:prstGeom>
          <a:noFill/>
          <a:ln/>
        </p:spPr>
        <p:txBody>
          <a:bodyPr wrap="square" lIns="0" tIns="0" rIns="0" bIns="0" rtlCol="0" anchor="ctr"/>
          <a:lstStyle/>
          <a:p>
            <a:pPr indent="0" marL="0">
              <a:buNone/>
            </a:pPr>
            <a:r>
              <a:rPr lang="en-US" sz="1250" b="1" dirty="0">
                <a:solidFill>
                  <a:srgbClr val="1DC9D8"/>
                </a:solidFill>
                <a:latin typeface="Cambria" pitchFamily="34" charset="0"/>
                <a:ea typeface="Cambria" pitchFamily="34" charset="-122"/>
                <a:cs typeface="Cambria" pitchFamily="34" charset="-120"/>
              </a:rPr>
              <a:t>Explainable AI (XAI)</a:t>
            </a:r>
            <a:endParaRPr lang="en-US" sz="1250" dirty="0"/>
          </a:p>
        </p:txBody>
      </p:sp>
      <p:sp>
        <p:nvSpPr>
          <p:cNvPr id="10" name="Text 8"/>
          <p:cNvSpPr/>
          <p:nvPr/>
        </p:nvSpPr>
        <p:spPr>
          <a:xfrm>
            <a:off x="3337560" y="1783080"/>
            <a:ext cx="2423160" cy="777240"/>
          </a:xfrm>
          <a:prstGeom prst="rect">
            <a:avLst/>
          </a:prstGeom>
          <a:noFill/>
          <a:ln/>
        </p:spPr>
        <p:txBody>
          <a:bodyPr wrap="square" lIns="50800" tIns="50800" rIns="50800" bIns="5080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SHAP values to explain why customers may churn.</a:t>
            </a:r>
            <a:endParaRPr lang="en-US" sz="1150" dirty="0"/>
          </a:p>
        </p:txBody>
      </p:sp>
      <p:sp>
        <p:nvSpPr>
          <p:cNvPr id="11" name="Shape 9"/>
          <p:cNvSpPr/>
          <p:nvPr/>
        </p:nvSpPr>
        <p:spPr>
          <a:xfrm>
            <a:off x="6126480" y="1005840"/>
            <a:ext cx="2697480" cy="1691640"/>
          </a:xfrm>
          <a:prstGeom prst="roundRect">
            <a:avLst>
              <a:gd name="adj" fmla="val 648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6236208" y="1097280"/>
            <a:ext cx="594360" cy="59436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3" name="Text 11"/>
          <p:cNvSpPr/>
          <p:nvPr/>
        </p:nvSpPr>
        <p:spPr>
          <a:xfrm>
            <a:off x="6876288" y="1097280"/>
            <a:ext cx="1828800" cy="594360"/>
          </a:xfrm>
          <a:prstGeom prst="rect">
            <a:avLst/>
          </a:prstGeom>
          <a:noFill/>
          <a:ln/>
        </p:spPr>
        <p:txBody>
          <a:bodyPr wrap="square" lIns="0" tIns="0" rIns="0" bIns="0" rtlCol="0" anchor="ctr"/>
          <a:lstStyle/>
          <a:p>
            <a:pPr indent="0" marL="0">
              <a:buNone/>
            </a:pPr>
            <a:r>
              <a:rPr lang="en-US" sz="1250" b="1" dirty="0">
                <a:solidFill>
                  <a:srgbClr val="1DC9D8"/>
                </a:solidFill>
                <a:latin typeface="Cambria" pitchFamily="34" charset="0"/>
                <a:ea typeface="Cambria" pitchFamily="34" charset="-122"/>
                <a:cs typeface="Cambria" pitchFamily="34" charset="-120"/>
              </a:rPr>
              <a:t>Real-time Prediction APIs</a:t>
            </a:r>
            <a:endParaRPr lang="en-US" sz="1250" dirty="0"/>
          </a:p>
        </p:txBody>
      </p:sp>
      <p:sp>
        <p:nvSpPr>
          <p:cNvPr id="14" name="Text 12"/>
          <p:cNvSpPr/>
          <p:nvPr/>
        </p:nvSpPr>
        <p:spPr>
          <a:xfrm>
            <a:off x="6263640" y="1783080"/>
            <a:ext cx="2423160" cy="777240"/>
          </a:xfrm>
          <a:prstGeom prst="rect">
            <a:avLst/>
          </a:prstGeom>
          <a:noFill/>
          <a:ln/>
        </p:spPr>
        <p:txBody>
          <a:bodyPr wrap="square" lIns="50800" tIns="50800" rIns="50800" bIns="5080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REST APIs for live churn scoring per interaction.</a:t>
            </a:r>
            <a:endParaRPr lang="en-US" sz="1150" dirty="0"/>
          </a:p>
        </p:txBody>
      </p:sp>
      <p:sp>
        <p:nvSpPr>
          <p:cNvPr id="15" name="Shape 13"/>
          <p:cNvSpPr/>
          <p:nvPr/>
        </p:nvSpPr>
        <p:spPr>
          <a:xfrm>
            <a:off x="274320" y="2880360"/>
            <a:ext cx="2697480" cy="1691640"/>
          </a:xfrm>
          <a:prstGeom prst="roundRect">
            <a:avLst>
              <a:gd name="adj" fmla="val 648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384048" y="2971800"/>
            <a:ext cx="594360" cy="59436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7" name="Text 15"/>
          <p:cNvSpPr/>
          <p:nvPr/>
        </p:nvSpPr>
        <p:spPr>
          <a:xfrm>
            <a:off x="1024128" y="2971800"/>
            <a:ext cx="1828800" cy="594360"/>
          </a:xfrm>
          <a:prstGeom prst="rect">
            <a:avLst/>
          </a:prstGeom>
          <a:noFill/>
          <a:ln/>
        </p:spPr>
        <p:txBody>
          <a:bodyPr wrap="square" lIns="0" tIns="0" rIns="0" bIns="0" rtlCol="0" anchor="ctr"/>
          <a:lstStyle/>
          <a:p>
            <a:pPr indent="0" marL="0">
              <a:buNone/>
            </a:pPr>
            <a:r>
              <a:rPr lang="en-US" sz="1250" b="1" dirty="0">
                <a:solidFill>
                  <a:srgbClr val="1DC9D8"/>
                </a:solidFill>
                <a:latin typeface="Cambria" pitchFamily="34" charset="0"/>
                <a:ea typeface="Cambria" pitchFamily="34" charset="-122"/>
                <a:cs typeface="Cambria" pitchFamily="34" charset="-120"/>
              </a:rPr>
              <a:t>Cloud Deployment</a:t>
            </a:r>
            <a:endParaRPr lang="en-US" sz="1250" dirty="0"/>
          </a:p>
        </p:txBody>
      </p:sp>
      <p:sp>
        <p:nvSpPr>
          <p:cNvPr id="18" name="Text 16"/>
          <p:cNvSpPr/>
          <p:nvPr/>
        </p:nvSpPr>
        <p:spPr>
          <a:xfrm>
            <a:off x="411480" y="3657600"/>
            <a:ext cx="2423160" cy="777240"/>
          </a:xfrm>
          <a:prstGeom prst="rect">
            <a:avLst/>
          </a:prstGeom>
          <a:noFill/>
          <a:ln/>
        </p:spPr>
        <p:txBody>
          <a:bodyPr wrap="square" lIns="50800" tIns="50800" rIns="50800" bIns="5080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AWS/GCP deployment for enterprise-scale usage.</a:t>
            </a:r>
            <a:endParaRPr lang="en-US" sz="1150" dirty="0"/>
          </a:p>
        </p:txBody>
      </p:sp>
      <p:sp>
        <p:nvSpPr>
          <p:cNvPr id="19" name="Shape 17"/>
          <p:cNvSpPr/>
          <p:nvPr/>
        </p:nvSpPr>
        <p:spPr>
          <a:xfrm>
            <a:off x="3200400" y="2880360"/>
            <a:ext cx="2697480" cy="1691640"/>
          </a:xfrm>
          <a:prstGeom prst="roundRect">
            <a:avLst>
              <a:gd name="adj" fmla="val 648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3310128" y="2971800"/>
            <a:ext cx="594360" cy="59436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21" name="Text 19"/>
          <p:cNvSpPr/>
          <p:nvPr/>
        </p:nvSpPr>
        <p:spPr>
          <a:xfrm>
            <a:off x="3950208" y="2971800"/>
            <a:ext cx="1828800" cy="594360"/>
          </a:xfrm>
          <a:prstGeom prst="rect">
            <a:avLst/>
          </a:prstGeom>
          <a:noFill/>
          <a:ln/>
        </p:spPr>
        <p:txBody>
          <a:bodyPr wrap="square" lIns="0" tIns="0" rIns="0" bIns="0" rtlCol="0" anchor="ctr"/>
          <a:lstStyle/>
          <a:p>
            <a:pPr indent="0" marL="0">
              <a:buNone/>
            </a:pPr>
            <a:r>
              <a:rPr lang="en-US" sz="1250" b="1" dirty="0">
                <a:solidFill>
                  <a:srgbClr val="1DC9D8"/>
                </a:solidFill>
                <a:latin typeface="Cambria" pitchFamily="34" charset="0"/>
                <a:ea typeface="Cambria" pitchFamily="34" charset="-122"/>
                <a:cs typeface="Cambria" pitchFamily="34" charset="-120"/>
              </a:rPr>
              <a:t>Business Dashboards</a:t>
            </a:r>
            <a:endParaRPr lang="en-US" sz="1250" dirty="0"/>
          </a:p>
        </p:txBody>
      </p:sp>
      <p:sp>
        <p:nvSpPr>
          <p:cNvPr id="22" name="Text 20"/>
          <p:cNvSpPr/>
          <p:nvPr/>
        </p:nvSpPr>
        <p:spPr>
          <a:xfrm>
            <a:off x="3337560" y="3657600"/>
            <a:ext cx="2423160" cy="777240"/>
          </a:xfrm>
          <a:prstGeom prst="rect">
            <a:avLst/>
          </a:prstGeom>
          <a:noFill/>
          <a:ln/>
        </p:spPr>
        <p:txBody>
          <a:bodyPr wrap="square" lIns="50800" tIns="50800" rIns="50800" bIns="5080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Interactive dashboards for non-technical decision makers.</a:t>
            </a:r>
            <a:endParaRPr lang="en-US" sz="1150" dirty="0"/>
          </a:p>
        </p:txBody>
      </p:sp>
      <p:sp>
        <p:nvSpPr>
          <p:cNvPr id="23" name="Shape 21"/>
          <p:cNvSpPr/>
          <p:nvPr/>
        </p:nvSpPr>
        <p:spPr>
          <a:xfrm>
            <a:off x="6126480" y="2880360"/>
            <a:ext cx="2697480" cy="1691640"/>
          </a:xfrm>
          <a:prstGeom prst="roundRect">
            <a:avLst>
              <a:gd name="adj" fmla="val 6486"/>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24" name="Text 22"/>
          <p:cNvSpPr/>
          <p:nvPr/>
        </p:nvSpPr>
        <p:spPr>
          <a:xfrm>
            <a:off x="6236208" y="2971800"/>
            <a:ext cx="594360" cy="59436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25" name="Text 23"/>
          <p:cNvSpPr/>
          <p:nvPr/>
        </p:nvSpPr>
        <p:spPr>
          <a:xfrm>
            <a:off x="6876288" y="2971800"/>
            <a:ext cx="1828800" cy="594360"/>
          </a:xfrm>
          <a:prstGeom prst="rect">
            <a:avLst/>
          </a:prstGeom>
          <a:noFill/>
          <a:ln/>
        </p:spPr>
        <p:txBody>
          <a:bodyPr wrap="square" lIns="0" tIns="0" rIns="0" bIns="0" rtlCol="0" anchor="ctr"/>
          <a:lstStyle/>
          <a:p>
            <a:pPr indent="0" marL="0">
              <a:buNone/>
            </a:pPr>
            <a:r>
              <a:rPr lang="en-US" sz="1250" b="1" dirty="0">
                <a:solidFill>
                  <a:srgbClr val="1DC9D8"/>
                </a:solidFill>
                <a:latin typeface="Cambria" pitchFamily="34" charset="0"/>
                <a:ea typeface="Cambria" pitchFamily="34" charset="-122"/>
                <a:cs typeface="Cambria" pitchFamily="34" charset="-120"/>
              </a:rPr>
              <a:t>CRM Integration</a:t>
            </a:r>
            <a:endParaRPr lang="en-US" sz="1250" dirty="0"/>
          </a:p>
        </p:txBody>
      </p:sp>
      <p:sp>
        <p:nvSpPr>
          <p:cNvPr id="26" name="Text 24"/>
          <p:cNvSpPr/>
          <p:nvPr/>
        </p:nvSpPr>
        <p:spPr>
          <a:xfrm>
            <a:off x="6263640" y="3657600"/>
            <a:ext cx="2423160" cy="777240"/>
          </a:xfrm>
          <a:prstGeom prst="rect">
            <a:avLst/>
          </a:prstGeom>
          <a:noFill/>
          <a:ln/>
        </p:spPr>
        <p:txBody>
          <a:bodyPr wrap="square" lIns="50800" tIns="50800" rIns="50800" bIns="50800" rtlCol="0" anchor="ctr"/>
          <a:lstStyle/>
          <a:p>
            <a:pPr indent="0" marL="0">
              <a:buNone/>
            </a:pPr>
            <a:r>
              <a:rPr lang="en-US" sz="1150" dirty="0">
                <a:solidFill>
                  <a:srgbClr val="D4E1EE"/>
                </a:solidFill>
                <a:latin typeface="Calibri" pitchFamily="34" charset="0"/>
                <a:ea typeface="Calibri" pitchFamily="34" charset="-122"/>
                <a:cs typeface="Calibri" pitchFamily="34" charset="-120"/>
              </a:rPr>
              <a:t>Plug into Salesforce or HubSpot for automated alerts.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E9AA7"/>
          </a:solidFill>
          <a:ln w="12700">
            <a:solidFill>
              <a:srgbClr val="0E9AA7"/>
            </a:solidFill>
            <a:prstDash val="solid"/>
          </a:ln>
        </p:spPr>
      </p:sp>
      <p:sp>
        <p:nvSpPr>
          <p:cNvPr id="3" name="Text 1"/>
          <p:cNvSpPr/>
          <p:nvPr/>
        </p:nvSpPr>
        <p:spPr>
          <a:xfrm>
            <a:off x="274320" y="91440"/>
            <a:ext cx="8595360" cy="868680"/>
          </a:xfrm>
          <a:prstGeom prst="rect">
            <a:avLst/>
          </a:prstGeom>
          <a:noFill/>
          <a:ln/>
        </p:spPr>
        <p:txBody>
          <a:bodyPr wrap="square" lIns="0" tIns="0" rIns="0" bIns="0" rtlCol="0" anchor="ctr"/>
          <a:lstStyle/>
          <a:p>
            <a:pPr algn="ctr" indent="0" marL="0">
              <a:buNone/>
            </a:pPr>
            <a:r>
              <a:rPr lang="en-US" sz="3200" b="1" dirty="0">
                <a:solidFill>
                  <a:srgbClr val="0D1B2A"/>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457200" y="1188720"/>
            <a:ext cx="8229600" cy="1234440"/>
          </a:xfrm>
          <a:prstGeom prst="rect">
            <a:avLst/>
          </a:prstGeom>
          <a:noFill/>
          <a:ln/>
        </p:spPr>
        <p:txBody>
          <a:bodyPr wrap="square" lIns="50800" tIns="50800" rIns="50800" bIns="50800" rtlCol="0" anchor="ctr"/>
          <a:lstStyle/>
          <a:p>
            <a:pPr algn="ctr" indent="0" marL="0">
              <a:buNone/>
            </a:pPr>
            <a:r>
              <a:rPr lang="en-US" sz="1400" dirty="0">
                <a:solidFill>
                  <a:srgbClr val="D4E1EE"/>
                </a:solidFill>
                <a:latin typeface="Calibri" pitchFamily="34" charset="0"/>
                <a:ea typeface="Calibri" pitchFamily="34" charset="-122"/>
                <a:cs typeface="Calibri" pitchFamily="34" charset="-120"/>
              </a:rPr>
              <a:t>Customer Churn Prediction demonstrates how Artificial Intelligence and Machine Learning can convert business data into actionable insights. By predicting customer behavior in advance, organizations can improve customer satisfaction, reduce revenue loss, and strengthen long-term relationships.</a:t>
            </a:r>
            <a:endParaRPr lang="en-US" sz="1400" dirty="0"/>
          </a:p>
        </p:txBody>
      </p:sp>
      <p:sp>
        <p:nvSpPr>
          <p:cNvPr id="5" name="Shape 3"/>
          <p:cNvSpPr/>
          <p:nvPr/>
        </p:nvSpPr>
        <p:spPr>
          <a:xfrm>
            <a:off x="320040" y="2651760"/>
            <a:ext cx="1965960" cy="2103120"/>
          </a:xfrm>
          <a:prstGeom prst="roundRect">
            <a:avLst>
              <a:gd name="adj" fmla="val 558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320040" y="2743200"/>
            <a:ext cx="19659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411480" y="3456432"/>
            <a:ext cx="1783080" cy="1097280"/>
          </a:xfrm>
          <a:prstGeom prst="rect">
            <a:avLst/>
          </a:prstGeom>
          <a:noFill/>
          <a:ln/>
        </p:spPr>
        <p:txBody>
          <a:bodyPr wrap="square" lIns="50800" tIns="50800" rIns="50800" bIns="508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AI-Driven Decision Making</a:t>
            </a:r>
            <a:endParaRPr lang="en-US" sz="1200" dirty="0"/>
          </a:p>
        </p:txBody>
      </p:sp>
      <p:sp>
        <p:nvSpPr>
          <p:cNvPr id="8" name="Shape 6"/>
          <p:cNvSpPr/>
          <p:nvPr/>
        </p:nvSpPr>
        <p:spPr>
          <a:xfrm>
            <a:off x="2468880" y="2651760"/>
            <a:ext cx="1965960" cy="2103120"/>
          </a:xfrm>
          <a:prstGeom prst="roundRect">
            <a:avLst>
              <a:gd name="adj" fmla="val 558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2468880" y="2743200"/>
            <a:ext cx="19659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2560320" y="3456432"/>
            <a:ext cx="1783080" cy="1097280"/>
          </a:xfrm>
          <a:prstGeom prst="rect">
            <a:avLst/>
          </a:prstGeom>
          <a:noFill/>
          <a:ln/>
        </p:spPr>
        <p:txBody>
          <a:bodyPr wrap="square" lIns="50800" tIns="50800" rIns="50800" bIns="508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Improved Customer Retention</a:t>
            </a:r>
            <a:endParaRPr lang="en-US" sz="1200" dirty="0"/>
          </a:p>
        </p:txBody>
      </p:sp>
      <p:sp>
        <p:nvSpPr>
          <p:cNvPr id="11" name="Shape 9"/>
          <p:cNvSpPr/>
          <p:nvPr/>
        </p:nvSpPr>
        <p:spPr>
          <a:xfrm>
            <a:off x="4617720" y="2651760"/>
            <a:ext cx="1965960" cy="2103120"/>
          </a:xfrm>
          <a:prstGeom prst="roundRect">
            <a:avLst>
              <a:gd name="adj" fmla="val 558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4617720" y="2743200"/>
            <a:ext cx="19659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4709160" y="3456432"/>
            <a:ext cx="1783080" cy="1097280"/>
          </a:xfrm>
          <a:prstGeom prst="rect">
            <a:avLst/>
          </a:prstGeom>
          <a:noFill/>
          <a:ln/>
        </p:spPr>
        <p:txBody>
          <a:bodyPr wrap="square" lIns="50800" tIns="50800" rIns="50800" bIns="508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Scalable Business Solution</a:t>
            </a:r>
            <a:endParaRPr lang="en-US" sz="1200" dirty="0"/>
          </a:p>
        </p:txBody>
      </p:sp>
      <p:sp>
        <p:nvSpPr>
          <p:cNvPr id="14" name="Shape 12"/>
          <p:cNvSpPr/>
          <p:nvPr/>
        </p:nvSpPr>
        <p:spPr>
          <a:xfrm>
            <a:off x="6766560" y="2651760"/>
            <a:ext cx="1965960" cy="2103120"/>
          </a:xfrm>
          <a:prstGeom prst="roundRect">
            <a:avLst>
              <a:gd name="adj" fmla="val 5581"/>
            </a:avLst>
          </a:prstGeom>
          <a:solidFill>
            <a:srgbClr val="1B2E45"/>
          </a:solidFill>
          <a:ln w="12700">
            <a:solidFill>
              <a:srgbClr val="0E9AA7"/>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6766560" y="2743200"/>
            <a:ext cx="19659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6858000" y="3456432"/>
            <a:ext cx="1783080" cy="1097280"/>
          </a:xfrm>
          <a:prstGeom prst="rect">
            <a:avLst/>
          </a:prstGeom>
          <a:noFill/>
          <a:ln/>
        </p:spPr>
        <p:txBody>
          <a:bodyPr wrap="square" lIns="50800" tIns="50800" rIns="50800" bIns="5080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Real-World Industry Applications</a:t>
            </a:r>
            <a:endParaRPr lang="en-US" sz="1200" dirty="0"/>
          </a:p>
        </p:txBody>
      </p:sp>
      <p:sp>
        <p:nvSpPr>
          <p:cNvPr id="17" name="Text 15"/>
          <p:cNvSpPr/>
          <p:nvPr/>
        </p:nvSpPr>
        <p:spPr>
          <a:xfrm>
            <a:off x="274320" y="4846320"/>
            <a:ext cx="8595360" cy="256032"/>
          </a:xfrm>
          <a:prstGeom prst="rect">
            <a:avLst/>
          </a:prstGeom>
          <a:noFill/>
          <a:ln/>
        </p:spPr>
        <p:txBody>
          <a:bodyPr wrap="square" lIns="0" tIns="0" rIns="0" bIns="0" rtlCol="0" anchor="ctr"/>
          <a:lstStyle/>
          <a:p>
            <a:pPr algn="ctr" indent="0" marL="0">
              <a:buNone/>
            </a:pPr>
            <a:r>
              <a:rPr lang="en-US" sz="950" i="1" dirty="0">
                <a:solidFill>
                  <a:srgbClr val="7A8FA6"/>
                </a:solidFill>
                <a:latin typeface="Calibri" pitchFamily="34" charset="0"/>
                <a:ea typeface="Calibri" pitchFamily="34" charset="-122"/>
                <a:cs typeface="Calibri" pitchFamily="34" charset="-120"/>
              </a:rPr>
              <a:t>KLH University  ·  Department of Computer Science &amp; Engineering  ·  AI &amp; ML Project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Using Machine Learning</dc:title>
  <dc:subject>PptxGenJS Presentation</dc:subject>
  <dc:creator>KLH University</dc:creator>
  <cp:lastModifiedBy>KLH University</cp:lastModifiedBy>
  <cp:revision>1</cp:revision>
  <dcterms:created xsi:type="dcterms:W3CDTF">2026-06-17T08:06:22Z</dcterms:created>
  <dcterms:modified xsi:type="dcterms:W3CDTF">2026-06-17T08:06:22Z</dcterms:modified>
</cp:coreProperties>
</file>